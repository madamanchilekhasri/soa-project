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904" r:id="rId3"/>
    <p:sldId id="707" r:id="rId4"/>
    <p:sldId id="257" r:id="rId5"/>
    <p:sldId id="903" r:id="rId6"/>
    <p:sldId id="902" r:id="rId7"/>
    <p:sldId id="258" r:id="rId8"/>
    <p:sldId id="908" r:id="rId9"/>
    <p:sldId id="259" r:id="rId10"/>
    <p:sldId id="905" r:id="rId11"/>
    <p:sldId id="906" r:id="rId12"/>
    <p:sldId id="907" r:id="rId13"/>
    <p:sldId id="26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39852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9/28/2026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9/28/2026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9/28/2026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9/28/2026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9/28/2026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9/28/2026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9/28/2026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9/28/2026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9/28/2026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9/28/2026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9/28/2026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28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28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28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28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28 September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28 September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28 September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28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28 September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28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28 September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9/28/2026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28 September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692124126"/>
              </p:ext>
            </p:extLst>
          </p:nvPr>
        </p:nvGraphicFramePr>
        <p:xfrm>
          <a:off x="7294148" y="4676020"/>
          <a:ext cx="5142096" cy="1861939"/>
        </p:xfrm>
        <a:graphic>
          <a:graphicData uri="http://schemas.openxmlformats.org/drawingml/2006/table">
            <a:tbl>
              <a:tblPr firstRow="1" bandRow="1">
                <a:tableStyleId>{5940675A-B579-460E-94D1-54222C63F5DA}</a:tableStyleId>
              </a:tblPr>
              <a:tblGrid>
                <a:gridCol w="5142096">
                  <a:extLst>
                    <a:ext uri="{9D8B030D-6E8A-4147-A177-3AD203B41FA5}">
                      <a16:colId xmlns:a16="http://schemas.microsoft.com/office/drawing/2014/main" val="40058472"/>
                    </a:ext>
                  </a:extLst>
                </a:gridCol>
              </a:tblGrid>
              <a:tr h="18619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Name                      Roll Number</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R. Dhanusha               2420030159</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M. Lekha Sri                2420030334</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7213726" y="4446049"/>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1480683045"/>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NEELIMA GOGGINENI,</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Associate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wrap="square"/>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60516" y="925333"/>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838200" y="929025"/>
            <a:ext cx="10715625" cy="964367"/>
          </a:xfrm>
          <a:prstGeom prst="rect">
            <a:avLst/>
          </a:prstGeom>
          <a:noFill/>
        </p:spPr>
        <p:txBody>
          <a:bodyPr wrap="square" lIns="76200" tIns="50800" rIns="76200" bIns="50800">
            <a:spAutoFit/>
          </a:bodyPr>
          <a:lstStyle/>
          <a:p>
            <a:pPr lvl="0" algn="ctr">
              <a:defRPr/>
            </a:pPr>
            <a:r>
              <a:rPr sz="2800" dirty="0">
                <a:solidFill>
                  <a:srgbClr val="191919"/>
                </a:solidFill>
              </a:rPr>
              <a:t>AI-DRIVEN SMART VEHICLE BREAKDOWN ASSISTANCE AND AUTONOMOUS SERVICE COORDINATION SYSTEM</a:t>
            </a:r>
            <a:endParaRPr kumimoji="0" lang="en-US" sz="28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615636" y="2268860"/>
            <a:ext cx="10715625" cy="779701"/>
          </a:xfrm>
          <a:prstGeom prst="rect">
            <a:avLst/>
          </a:prstGeom>
          <a:noFill/>
        </p:spPr>
        <p:txBody>
          <a:bodyPr wrap="square" lIns="76200" tIns="50800" rIns="76200" bIns="50800">
            <a:spAutoFit/>
          </a:bodyPr>
          <a:lstStyle/>
          <a:p>
            <a:pPr lvl="0" algn="ctr">
              <a:defRPr/>
            </a:pPr>
            <a:r>
              <a:rPr sz="4400" b="1" dirty="0">
                <a:solidFill>
                  <a:srgbClr val="191919"/>
                </a:solidFill>
              </a:rPr>
              <a:t>SOA Project Review-2</a:t>
            </a:r>
          </a:p>
        </p:txBody>
      </p:sp>
    </p:spTree>
    <p:extLst>
      <p:ext uri="{BB962C8B-B14F-4D97-AF65-F5344CB8AC3E}">
        <p14:creationId xmlns:p14="http://schemas.microsoft.com/office/powerpoint/2010/main" val="2283254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a:xfrm>
            <a:off x="1032326" y="6356350"/>
            <a:ext cx="2743200" cy="365125"/>
          </a:xfrm>
        </p:spPr>
        <p:txBody>
          <a:bodyPr wrap="square" lIns="76200" tIns="50800" rIns="76200" bIns="50800"/>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wrap="square" lIns="76200" tIns="50800" rIns="76200" bIns="50800"/>
          <a:lstStyle/>
          <a:p>
            <a:endParaRPr sz="1600" dirty="0">
              <a:latin typeface="Arial"/>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wrap="square"/>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191919"/>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Methodology Adopted</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Technical Soundness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Technical Implementation</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Feasibility &amp; Project Plan</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Problem Statement &amp; Objectives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Project Design &amp; Architecture</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1596000" y="408000"/>
            <a:ext cx="9000000" cy="779701"/>
          </a:xfrm>
          <a:prstGeom prst="rect">
            <a:avLst/>
          </a:prstGeom>
          <a:noFill/>
        </p:spPr>
        <p:txBody>
          <a:bodyPr wrap="square" lIns="76200" tIns="50800" rIns="76200" bIns="50800">
            <a:spAutoFit/>
          </a:bodyPr>
          <a:lstStyle/>
          <a:p>
            <a:pPr algn="ctr"/>
            <a:r>
              <a:rPr lang="en-US" sz="3600" b="1" dirty="0">
                <a:solidFill>
                  <a:srgbClr val="191919"/>
                </a:solidFill>
              </a:rPr>
              <a:t>Introduction</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604560" y="1595701"/>
            <a:ext cx="11118048" cy="3980577"/>
          </a:xfrm>
          <a:prstGeom prst="rect">
            <a:avLst/>
          </a:prstGeom>
          <a:noFill/>
        </p:spPr>
        <p:txBody>
          <a:bodyPr wrap="square" lIns="76200" tIns="50800" rIns="76200" bIns="50800">
            <a:spAutoFit/>
          </a:bodyPr>
          <a:lstStyle/>
          <a:p>
            <a:pPr>
              <a:spcAft>
                <a:spcPts val="1400"/>
              </a:spcAft>
              <a:buNone/>
            </a:pPr>
            <a:r>
              <a:rPr lang="en-US" sz="1700" dirty="0">
                <a:solidFill>
                  <a:srgbClr val="191919"/>
                </a:solidFill>
              </a:rPr>
              <a:t>The AI-Driven Smart Vehicle Breakdown Assistance and Autonomous Service Coordination System is a service-oriented platform that helps stranded drivers get timely roadside help. A driver raises an SOS request with live location, vehicle details, and a short description or photo of the problem. The system uses AI to diagnose the likely fault, assess urgency, and decide what kind of help is required, such as a mechanic, tow truck, battery jump-start, tyre repair, or fuel delivery.</a:t>
            </a:r>
          </a:p>
          <a:p>
            <a:pPr>
              <a:spcAft>
                <a:spcPts val="0"/>
              </a:spcAft>
              <a:buNone/>
            </a:pPr>
            <a:r>
              <a:rPr lang="en-US" sz="1700" dirty="0">
                <a:solidFill>
                  <a:srgbClr val="191919"/>
                </a:solidFill>
              </a:rPr>
              <a:t>Instead of depending on a call-centre operator, an autonomous coordination layer selects the most suitable nearby service provider using distance, estimated arrival time, skills, availability, and rating, and dispatches the job automatically. If the provider rejects the request or does not respond in time, the job is re-assigned without manual intervention. The driver receives live tracking and status notifications until the vehicle is fixed. The system is built from independent REST services (user, diagnosis, location, dispatch, tracking, and notification) so that each can be developed, tested, and scaled separately.</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1596000" y="469169"/>
            <a:ext cx="9000000" cy="779701"/>
          </a:xfrm>
          <a:prstGeom prst="rect">
            <a:avLst/>
          </a:prstGeom>
          <a:noFill/>
        </p:spPr>
        <p:txBody>
          <a:bodyPr wrap="square" lIns="76200" tIns="50800" rIns="76200" bIns="50800">
            <a:spAutoFit/>
          </a:bodyPr>
          <a:lstStyle/>
          <a:p>
            <a:pPr algn="ctr"/>
            <a:r>
              <a:rPr lang="en-US" sz="3600" b="1" dirty="0">
                <a:solidFill>
                  <a:srgbClr val="191919"/>
                </a:solidFill>
              </a:rPr>
              <a:t>Problem Statement</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696000" y="1500000"/>
            <a:ext cx="10800000" cy="3909468"/>
          </a:xfrm>
          <a:prstGeom prst="rect">
            <a:avLst/>
          </a:prstGeom>
          <a:noFill/>
        </p:spPr>
        <p:txBody>
          <a:bodyPr wrap="square" lIns="76200" tIns="50800" rIns="76200" bIns="50800">
            <a:spAutoFit/>
          </a:bodyPr>
          <a:lstStyle/>
          <a:p>
            <a:pPr marL="285750" indent="-285750">
              <a:spcAft>
                <a:spcPts val="1000"/>
              </a:spcAft>
              <a:buFont typeface="Arial"/>
              <a:buChar char="•"/>
            </a:pPr>
            <a:r>
              <a:rPr lang="en-US" sz="1700" dirty="0">
                <a:solidFill>
                  <a:srgbClr val="191919"/>
                </a:solidFill>
              </a:rPr>
              <a:t>Drivers stranded on the road often cannot identify the cause of the breakdown, so they cannot describe it clearly or decide which kind of help to request.</a:t>
            </a:r>
          </a:p>
          <a:p>
            <a:pPr marL="285750" indent="-285750">
              <a:spcAft>
                <a:spcPts val="1000"/>
              </a:spcAft>
              <a:buFont typeface="Arial"/>
              <a:buChar char="•"/>
            </a:pPr>
            <a:r>
              <a:rPr lang="en-US" sz="1700" dirty="0">
                <a:solidFill>
                  <a:srgbClr val="191919"/>
                </a:solidFill>
              </a:rPr>
              <a:t>Conventional roadside assistance relies on call-centre operators following fixed scripts and manually choosing providers, which is slow and prone to error.</a:t>
            </a:r>
          </a:p>
          <a:p>
            <a:pPr marL="285750" indent="-285750">
              <a:spcAft>
                <a:spcPts val="1000"/>
              </a:spcAft>
              <a:buFont typeface="Arial"/>
              <a:buChar char="•"/>
            </a:pPr>
            <a:r>
              <a:rPr lang="en-US" sz="1700" dirty="0">
                <a:solidFill>
                  <a:srgbClr val="191919"/>
                </a:solidFill>
              </a:rPr>
              <a:t>Finding a nearby, suitable, and available mechanic or tow truck is uncertain, especially at night, on highways, or in unfamiliar areas.</a:t>
            </a:r>
          </a:p>
          <a:p>
            <a:pPr marL="285750" indent="-285750">
              <a:spcAft>
                <a:spcPts val="1000"/>
              </a:spcAft>
              <a:buFont typeface="Arial"/>
              <a:buChar char="•"/>
            </a:pPr>
            <a:r>
              <a:rPr lang="en-US" sz="1700" dirty="0">
                <a:solidFill>
                  <a:srgbClr val="191919"/>
                </a:solidFill>
              </a:rPr>
              <a:t>Drivers get little real-time visibility of whether help has been assigned and when it will arrive.</a:t>
            </a:r>
          </a:p>
          <a:p>
            <a:pPr marL="285750" indent="-285750">
              <a:spcAft>
                <a:spcPts val="1000"/>
              </a:spcAft>
              <a:buFont typeface="Arial"/>
              <a:buChar char="•"/>
            </a:pPr>
            <a:r>
              <a:rPr lang="en-US" sz="1700" dirty="0">
                <a:solidFill>
                  <a:srgbClr val="191919"/>
                </a:solidFill>
              </a:rPr>
              <a:t>When a provider declines or is delayed, the request has to be handled again manually, which increases waiting time.</a:t>
            </a:r>
          </a:p>
          <a:p>
            <a:pPr marL="285750" indent="-285750">
              <a:spcAft>
                <a:spcPts val="1000"/>
              </a:spcAft>
              <a:buFont typeface="Arial"/>
              <a:buChar char="•"/>
            </a:pPr>
            <a:r>
              <a:rPr lang="en-US" sz="1700" dirty="0">
                <a:solidFill>
                  <a:srgbClr val="191919"/>
                </a:solidFill>
              </a:rPr>
              <a:t>A unified platform is needed that combines AI diagnosis, automatic provider selection, dispatch, tracking, and notifications; the proposed system addresses this through autonomous, service-based coordination.</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Objectives Body"/>
          <p:cNvSpPr txBox="1"/>
          <p:nvPr/>
        </p:nvSpPr>
        <p:spPr>
          <a:xfrm>
            <a:off x="696000" y="1150000"/>
            <a:ext cx="10800000" cy="5000000"/>
          </a:xfrm>
          <a:prstGeom prst="rect">
            <a:avLst/>
          </a:prstGeom>
          <a:noFill/>
        </p:spPr>
        <p:txBody>
          <a:bodyPr wrap="square" lIns="76200" tIns="50800" rIns="76200" bIns="50800">
            <a:spAutoFit/>
          </a:bodyPr>
          <a:lstStyle/>
          <a:p>
            <a:pPr marL="285750" indent="-285750">
              <a:spcAft>
                <a:spcPts val="1100"/>
              </a:spcAft>
              <a:buFont typeface="+mj-lt"/>
              <a:buAutoNum type="arabicPeriod"/>
            </a:pPr>
            <a:r>
              <a:rPr lang="en-US" sz="1700" dirty="0">
                <a:solidFill>
                  <a:srgbClr val="191919"/>
                </a:solidFill>
              </a:rPr>
              <a:t>Design an AI-based diagnosis service that identifies the likely breakdown type and urgency from driver input and optional vehicle data.</a:t>
            </a:r>
          </a:p>
          <a:p>
            <a:pPr marL="285750" indent="-285750">
              <a:spcAft>
                <a:spcPts val="1100"/>
              </a:spcAft>
              <a:buFont typeface="+mj-lt"/>
              <a:buAutoNum type="arabicPeriod"/>
            </a:pPr>
            <a:r>
              <a:rPr lang="en-US" sz="1700" dirty="0">
                <a:solidFill>
                  <a:srgbClr val="191919"/>
                </a:solidFill>
              </a:rPr>
              <a:t>Automatically find and rank nearby service providers using distance, ETA, skill match, availability, and rating.</a:t>
            </a:r>
          </a:p>
          <a:p>
            <a:pPr marL="285750" indent="-285750">
              <a:spcAft>
                <a:spcPts val="1100"/>
              </a:spcAft>
              <a:buFont typeface="+mj-lt"/>
              <a:buAutoNum type="arabicPeriod"/>
            </a:pPr>
            <a:r>
              <a:rPr lang="en-US" sz="1700" dirty="0">
                <a:solidFill>
                  <a:srgbClr val="191919"/>
                </a:solidFill>
              </a:rPr>
              <a:t>Build an autonomous coordination workflow that assigns jobs and re-dispatches when a provider rejects or times out.</a:t>
            </a:r>
          </a:p>
          <a:p>
            <a:pPr marL="285750" indent="-285750">
              <a:spcAft>
                <a:spcPts val="1100"/>
              </a:spcAft>
              <a:buFont typeface="+mj-lt"/>
              <a:buAutoNum type="arabicPeriod"/>
            </a:pPr>
            <a:r>
              <a:rPr lang="en-US" sz="1700" dirty="0">
                <a:solidFill>
                  <a:srgbClr val="191919"/>
                </a:solidFill>
              </a:rPr>
              <a:t>Provide real-time location tracking and ETA to the driver throughout the service.</a:t>
            </a:r>
          </a:p>
          <a:p>
            <a:pPr marL="285750" indent="-285750">
              <a:spcAft>
                <a:spcPts val="1100"/>
              </a:spcAft>
              <a:buFont typeface="+mj-lt"/>
              <a:buAutoNum type="arabicPeriod"/>
            </a:pPr>
            <a:r>
              <a:rPr lang="en-US" sz="1700" dirty="0">
                <a:solidFill>
                  <a:srgbClr val="191919"/>
                </a:solidFill>
              </a:rPr>
              <a:t>Send status alerts through SMS, push, and email at every stage of the request.</a:t>
            </a:r>
          </a:p>
          <a:p>
            <a:pPr marL="285750" indent="-285750">
              <a:spcAft>
                <a:spcPts val="1100"/>
              </a:spcAft>
              <a:buFont typeface="+mj-lt"/>
              <a:buAutoNum type="arabicPeriod"/>
            </a:pPr>
            <a:r>
              <a:rPr lang="en-US" sz="1700" dirty="0">
                <a:solidFill>
                  <a:srgbClr val="191919"/>
                </a:solidFill>
              </a:rPr>
              <a:t>Apply Service-Oriented Architecture with independent REST services behind an API gateway for maintainability and scalability.</a:t>
            </a:r>
          </a:p>
          <a:p>
            <a:pPr marL="285750" indent="-285750">
              <a:spcAft>
                <a:spcPts val="1100"/>
              </a:spcAft>
              <a:buFont typeface="+mj-lt"/>
              <a:buAutoNum type="arabicPeriod"/>
            </a:pPr>
            <a:r>
              <a:rPr lang="en-US" sz="1700" dirty="0">
                <a:solidFill>
                  <a:srgbClr val="191919"/>
                </a:solidFill>
              </a:rPr>
              <a:t>Store requests, diagnoses, dispatch jobs, and service history for traceability and analysis.</a:t>
            </a:r>
          </a:p>
        </p:txBody>
      </p:sp>
      <p:sp>
        <p:nvSpPr>
          <p:cNvPr id="2" name="TextBox 1">
            <a:extLst>
              <a:ext uri="{FF2B5EF4-FFF2-40B4-BE49-F238E27FC236}">
                <a16:creationId xmlns:a16="http://schemas.microsoft.com/office/drawing/2014/main" id="{C48F0022-391A-4CFC-2851-87E76B37EAC2}"/>
              </a:ext>
            </a:extLst>
          </p:cNvPr>
          <p:cNvSpPr txBox="1"/>
          <p:nvPr/>
        </p:nvSpPr>
        <p:spPr>
          <a:xfrm>
            <a:off x="1596000" y="136525"/>
            <a:ext cx="9000000" cy="779701"/>
          </a:xfrm>
          <a:prstGeom prst="rect">
            <a:avLst/>
          </a:prstGeom>
          <a:noFill/>
        </p:spPr>
        <p:txBody>
          <a:bodyPr wrap="square" lIns="76200" tIns="50800" rIns="76200" bIns="50800" rtlCol="0">
            <a:spAutoFit/>
          </a:bodyPr>
          <a:lstStyle/>
          <a:p>
            <a:pPr algn="ctr"/>
            <a:r>
              <a:rPr lang="en-US" sz="3600" b="1" dirty="0">
                <a:solidFill>
                  <a:srgbClr val="191919"/>
                </a:solidFill>
              </a:rPr>
              <a:t>Objectives</a:t>
            </a: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wrap="square"/>
          <a:lstStyle/>
          <a:p>
            <a:endParaRPr lang="en-IN" dirty="0"/>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wrap="square" lIns="76200" tIns="50800" rIns="76200" bIns="50800"/>
          <a:lstStyle/>
          <a:p>
            <a:r>
              <a:rPr sz="1200" dirty="0">
                <a:solidFill>
                  <a:srgbClr val="191919"/>
                </a:solidFill>
              </a:rPr>
              <a:t>•</a:t>
            </a:r>
            <a:endParaRPr lang="en-IN" dirty="0"/>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wrap="square"/>
          <a:lstStyle/>
          <a:p>
            <a:fld id="{5A3A418F-4DEE-4BB1-940B-1145D135750E}" type="slidenum">
              <a:rPr lang="en-IN" smtClean="0"/>
              <a:t>5</a:t>
            </a:fld>
            <a:endParaRPr lang="en-IN" dirty="0"/>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1596000" y="226996"/>
            <a:ext cx="9000000" cy="779701"/>
          </a:xfrm>
          <a:prstGeom prst="rect">
            <a:avLst/>
          </a:prstGeom>
          <a:noFill/>
        </p:spPr>
        <p:txBody>
          <a:bodyPr wrap="square" lIns="76200" tIns="50800" rIns="76200" bIns="50800">
            <a:spAutoFit/>
          </a:bodyPr>
          <a:lstStyle/>
          <a:p>
            <a:pPr algn="ctr"/>
            <a:r>
              <a:rPr lang="en-US" sz="3600" b="1" dirty="0">
                <a:solidFill>
                  <a:srgbClr val="191919"/>
                </a:solidFill>
              </a:rPr>
              <a:t>Project Design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696000" y="1100000"/>
            <a:ext cx="10800000" cy="5502212"/>
          </a:xfrm>
          <a:prstGeom prst="rect">
            <a:avLst/>
          </a:prstGeom>
          <a:noFill/>
        </p:spPr>
        <p:txBody>
          <a:bodyPr wrap="square" lIns="76200" tIns="50800" rIns="76200" bIns="50800">
            <a:spAutoFit/>
          </a:bodyPr>
          <a:lstStyle/>
          <a:p>
            <a:pPr>
              <a:spcAft>
                <a:spcPts val="900"/>
              </a:spcAft>
              <a:buNone/>
            </a:pPr>
            <a:r>
              <a:rPr lang="en-US" sz="1600" dirty="0">
                <a:solidFill>
                  <a:srgbClr val="191919"/>
                </a:solidFill>
              </a:rPr>
              <a:t>The system follows a Service-Oriented Architecture in which independent services communicate through REST APIs and events.</a:t>
            </a:r>
          </a:p>
          <a:p>
            <a:pPr marL="285750" indent="-285750">
              <a:spcAft>
                <a:spcPts val="650"/>
              </a:spcAft>
              <a:buFont typeface="Arial"/>
              <a:buChar char="•"/>
            </a:pPr>
            <a:r>
              <a:rPr lang="en-US" sz="1500" b="1" dirty="0">
                <a:solidFill>
                  <a:srgbClr val="191919"/>
                </a:solidFill>
              </a:rPr>
              <a:t>API Gateway: </a:t>
            </a:r>
            <a:r>
              <a:rPr lang="en-US" sz="1500" dirty="0">
                <a:solidFill>
                  <a:srgbClr val="191919"/>
                </a:solidFill>
              </a:rPr>
              <a:t>single entry point that routes REST requests, authenticates users (JWT), and validates input.</a:t>
            </a:r>
          </a:p>
          <a:p>
            <a:pPr marL="285750" indent="-285750">
              <a:spcAft>
                <a:spcPts val="650"/>
              </a:spcAft>
              <a:buFont typeface="Arial"/>
              <a:buChar char="•"/>
            </a:pPr>
            <a:r>
              <a:rPr lang="en-US" sz="1500" b="1" dirty="0">
                <a:solidFill>
                  <a:srgbClr val="191919"/>
                </a:solidFill>
              </a:rPr>
              <a:t>User Service: </a:t>
            </a:r>
            <a:r>
              <a:rPr lang="en-US" sz="1500" dirty="0">
                <a:solidFill>
                  <a:srgbClr val="191919"/>
                </a:solidFill>
              </a:rPr>
              <a:t>handles registration, login, driver profile, and vehicle details.</a:t>
            </a:r>
          </a:p>
          <a:p>
            <a:pPr marL="285750" indent="-285750">
              <a:spcAft>
                <a:spcPts val="650"/>
              </a:spcAft>
              <a:buFont typeface="Arial"/>
              <a:buChar char="•"/>
            </a:pPr>
            <a:r>
              <a:rPr lang="en-US" sz="1500" b="1" dirty="0">
                <a:solidFill>
                  <a:srgbClr val="191919"/>
                </a:solidFill>
              </a:rPr>
              <a:t>Diagnosis Service: </a:t>
            </a:r>
            <a:r>
              <a:rPr lang="en-US" sz="1500" dirty="0">
                <a:solidFill>
                  <a:srgbClr val="191919"/>
                </a:solidFill>
              </a:rPr>
              <a:t>AI module that classifies the breakdown type and urgency from symptom text, photo, and optional OBD-II codes.</a:t>
            </a:r>
          </a:p>
          <a:p>
            <a:pPr marL="285750" indent="-285750">
              <a:spcAft>
                <a:spcPts val="650"/>
              </a:spcAft>
              <a:buFont typeface="Arial"/>
              <a:buChar char="•"/>
            </a:pPr>
            <a:r>
              <a:rPr lang="en-US" sz="1500" b="1" dirty="0">
                <a:solidFill>
                  <a:srgbClr val="191919"/>
                </a:solidFill>
              </a:rPr>
              <a:t>Location Service: </a:t>
            </a:r>
            <a:r>
              <a:rPr lang="en-US" sz="1500" dirty="0">
                <a:solidFill>
                  <a:srgbClr val="191919"/>
                </a:solidFill>
              </a:rPr>
              <a:t>captures GPS location, searches nearby providers, and calculates distance and ETA.</a:t>
            </a:r>
          </a:p>
          <a:p>
            <a:pPr marL="285750" indent="-285750">
              <a:spcAft>
                <a:spcPts val="650"/>
              </a:spcAft>
              <a:buFont typeface="Arial"/>
              <a:buChar char="•"/>
            </a:pPr>
            <a:r>
              <a:rPr lang="en-US" sz="1500" b="1" dirty="0">
                <a:solidFill>
                  <a:srgbClr val="191919"/>
                </a:solidFill>
              </a:rPr>
              <a:t>Dispatch Service (AI Orchestrator): </a:t>
            </a:r>
            <a:r>
              <a:rPr lang="en-US" sz="1500" dirty="0">
                <a:solidFill>
                  <a:srgbClr val="191919"/>
                </a:solidFill>
              </a:rPr>
              <a:t>ranks providers, assigns the job, and re-dispatches on rejection or timeout.</a:t>
            </a:r>
          </a:p>
          <a:p>
            <a:pPr marL="285750" indent="-285750">
              <a:spcAft>
                <a:spcPts val="650"/>
              </a:spcAft>
              <a:buFont typeface="Arial"/>
              <a:buChar char="•"/>
            </a:pPr>
            <a:r>
              <a:rPr lang="en-US" sz="1500" b="1" dirty="0">
                <a:solidFill>
                  <a:srgbClr val="191919"/>
                </a:solidFill>
              </a:rPr>
              <a:t>Tracking Service: </a:t>
            </a:r>
            <a:r>
              <a:rPr lang="en-US" sz="1500" dirty="0">
                <a:solidFill>
                  <a:srgbClr val="191919"/>
                </a:solidFill>
              </a:rPr>
              <a:t>maintains job status and live provider location for the driver.</a:t>
            </a:r>
          </a:p>
          <a:p>
            <a:pPr marL="285750" indent="-285750">
              <a:spcAft>
                <a:spcPts val="650"/>
              </a:spcAft>
              <a:buFont typeface="Arial"/>
              <a:buChar char="•"/>
            </a:pPr>
            <a:r>
              <a:rPr lang="en-US" sz="1500" b="1" dirty="0">
                <a:solidFill>
                  <a:srgbClr val="191919"/>
                </a:solidFill>
              </a:rPr>
              <a:t>Notification Service: </a:t>
            </a:r>
            <a:r>
              <a:rPr lang="en-US" sz="1500" dirty="0">
                <a:solidFill>
                  <a:srgbClr val="191919"/>
                </a:solidFill>
              </a:rPr>
              <a:t>sends SMS, push, and email updates and records delivery status.</a:t>
            </a:r>
          </a:p>
          <a:p>
            <a:pPr marL="285750" indent="-285750">
              <a:spcAft>
                <a:spcPts val="650"/>
              </a:spcAft>
              <a:buFont typeface="Arial"/>
              <a:buChar char="•"/>
            </a:pPr>
            <a:r>
              <a:rPr lang="en-US" sz="1500" b="1" dirty="0">
                <a:solidFill>
                  <a:srgbClr val="191919"/>
                </a:solidFill>
              </a:rPr>
              <a:t>Database: </a:t>
            </a:r>
            <a:r>
              <a:rPr lang="en-US" sz="1500" dirty="0">
                <a:solidFill>
                  <a:srgbClr val="191919"/>
                </a:solidFill>
              </a:rPr>
              <a:t>stores users, vehicles, requests, diagnoses, providers, jobs, and notifications.</a:t>
            </a:r>
          </a:p>
          <a:p>
            <a:pPr>
              <a:spcAft>
                <a:spcPts val="0"/>
              </a:spcAft>
              <a:buNone/>
            </a:pPr>
            <a:r>
              <a:rPr lang="en-US" sz="1600" dirty="0">
                <a:solidFill>
                  <a:srgbClr val="191919"/>
                </a:solidFill>
              </a:rPr>
              <a:t>The modular design keeps responsibilities separate, so each service can be developed, tested, and scaled independently.</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BA7BBC8D-7BED-315B-6212-EEF924E28B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000" y="140000"/>
            <a:ext cx="10800000" cy="654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596000" y="503343"/>
            <a:ext cx="9000000" cy="779701"/>
          </a:xfrm>
          <a:prstGeom prst="rect">
            <a:avLst/>
          </a:prstGeom>
          <a:noFill/>
        </p:spPr>
        <p:txBody>
          <a:bodyPr wrap="square" lIns="76200" tIns="50800" rIns="76200" bIns="50800">
            <a:spAutoFit/>
          </a:bodyPr>
          <a:lstStyle/>
          <a:p>
            <a:pPr algn="ctr"/>
            <a:r>
              <a:rPr lang="en-US" sz="3600" b="1" dirty="0">
                <a:solidFill>
                  <a:srgbClr val="191919"/>
                </a:solidFill>
              </a:rPr>
              <a:t>Methodology Adopted</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696000" y="1100000"/>
            <a:ext cx="10800000" cy="3272371"/>
          </a:xfrm>
          <a:prstGeom prst="rect">
            <a:avLst/>
          </a:prstGeom>
          <a:noFill/>
        </p:spPr>
        <p:txBody>
          <a:bodyPr wrap="square" lIns="76200" tIns="50800" rIns="76200" bIns="50800">
            <a:spAutoFit/>
          </a:bodyPr>
          <a:lstStyle/>
          <a:p>
            <a:pPr marL="285750" indent="-285750">
              <a:spcAft>
                <a:spcPts val="800"/>
              </a:spcAft>
              <a:buFont typeface="Arial"/>
              <a:buChar char="•"/>
            </a:pPr>
            <a:r>
              <a:rPr lang="en-US" sz="1600" dirty="0">
                <a:solidFill>
                  <a:srgbClr val="191919"/>
                </a:solidFill>
              </a:rPr>
              <a:t>Service-Oriented Architecture with independent REST services (user, diagnosis, location, dispatch, tracking, notification) behind an API gateway.</a:t>
            </a:r>
          </a:p>
          <a:p>
            <a:pPr marL="285750" indent="-285750">
              <a:spcAft>
                <a:spcPts val="800"/>
              </a:spcAft>
              <a:buFont typeface="Arial"/>
              <a:buChar char="•"/>
            </a:pPr>
            <a:r>
              <a:rPr lang="en-US" sz="1600" dirty="0">
                <a:solidFill>
                  <a:srgbClr val="191919"/>
                </a:solidFill>
              </a:rPr>
              <a:t>Each request captures GPS coordinates, vehicle details, and a symptom description or photo, with optional OBD-II fault codes.</a:t>
            </a:r>
          </a:p>
          <a:p>
            <a:pPr marL="285750" indent="-285750">
              <a:spcAft>
                <a:spcPts val="800"/>
              </a:spcAft>
              <a:buFont typeface="Arial"/>
              <a:buChar char="•"/>
            </a:pPr>
            <a:r>
              <a:rPr lang="en-US" sz="1600" dirty="0">
                <a:solidFill>
                  <a:srgbClr val="191919"/>
                </a:solidFill>
              </a:rPr>
              <a:t>Diagnosis: NLP-based text classification, plus rule-based mapping of OBD-II codes, predicts the breakdown category and urgency.</a:t>
            </a:r>
          </a:p>
          <a:p>
            <a:pPr marL="285750" indent="-285750">
              <a:spcAft>
                <a:spcPts val="800"/>
              </a:spcAft>
              <a:buFont typeface="Arial"/>
              <a:buChar char="•"/>
            </a:pPr>
            <a:r>
              <a:rPr lang="en-US" sz="1600" dirty="0">
                <a:solidFill>
                  <a:srgbClr val="191919"/>
                </a:solidFill>
              </a:rPr>
              <a:t>Location: GPS tracking and nearest-provider search using distance calculation (Haversine) and estimated arrival time.</a:t>
            </a:r>
          </a:p>
          <a:p>
            <a:pPr marL="285750" indent="-285750">
              <a:spcAft>
                <a:spcPts val="800"/>
              </a:spcAft>
              <a:buFont typeface="Arial"/>
              <a:buChar char="•"/>
            </a:pPr>
            <a:r>
              <a:rPr lang="en-US" sz="1600" dirty="0">
                <a:solidFill>
                  <a:srgbClr val="191919"/>
                </a:solidFill>
              </a:rPr>
              <a:t>Dispatch: a weighted score over distance, ETA, skill match, rating, and availability selects the provider; a reject or timeout triggers automatic re-dispatch.</a:t>
            </a:r>
          </a:p>
          <a:p>
            <a:pPr marL="285750" indent="-285750">
              <a:spcAft>
                <a:spcPts val="800"/>
              </a:spcAft>
              <a:buFont typeface="Arial"/>
              <a:buChar char="•"/>
            </a:pPr>
            <a:r>
              <a:rPr lang="en-US" sz="1600" dirty="0">
                <a:solidFill>
                  <a:srgbClr val="191919"/>
                </a:solidFill>
              </a:rPr>
              <a:t>Event-driven coordination: the orchestrator publishes events (request created, provider assigned, job accepted, completed) consumed by tracking and notification.</a:t>
            </a:r>
          </a:p>
          <a:p>
            <a:pPr marL="285750" indent="-285750">
              <a:spcAft>
                <a:spcPts val="800"/>
              </a:spcAft>
              <a:buFont typeface="Arial"/>
              <a:buChar char="•"/>
            </a:pPr>
            <a:r>
              <a:rPr lang="en-US" sz="1600" dirty="0">
                <a:solidFill>
                  <a:srgbClr val="191919"/>
                </a:solidFill>
              </a:rPr>
              <a:t>Agile, incremental development so each service is built, integrated, and tested step by step.</a:t>
            </a:r>
          </a:p>
          <a:p>
            <a:pPr marL="285750" indent="-285750">
              <a:spcAft>
                <a:spcPts val="800"/>
              </a:spcAft>
              <a:buFont typeface="Arial"/>
              <a:buChar char="•"/>
            </a:pPr>
            <a:r>
              <a:rPr lang="en-US" sz="1600" dirty="0">
                <a:solidFill>
                  <a:srgbClr val="191919"/>
                </a:solidFill>
              </a:rPr>
              <a:t>Unit, API, integration, and end-to-end testing validate the complete workflow.</a:t>
            </a:r>
          </a:p>
        </p:txBody>
      </p:sp>
    </p:spTree>
    <p:extLst>
      <p:ext uri="{BB962C8B-B14F-4D97-AF65-F5344CB8AC3E}">
        <p14:creationId xmlns:p14="http://schemas.microsoft.com/office/powerpoint/2010/main" val="3524135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96000" y="88334"/>
            <a:ext cx="8400000" cy="779701"/>
          </a:xfrm>
          <a:prstGeom prst="rect">
            <a:avLst/>
          </a:prstGeom>
          <a:noFill/>
        </p:spPr>
        <p:txBody>
          <a:bodyPr wrap="square" lIns="76200" tIns="50800" rIns="76200" bIns="50800">
            <a:spAutoFit/>
          </a:bodyPr>
          <a:lstStyle/>
          <a:p>
            <a:pPr algn="ctr"/>
            <a:r>
              <a:rPr lang="en-US" sz="3200" b="1" dirty="0">
                <a:solidFill>
                  <a:srgbClr val="191919"/>
                </a:solidFill>
              </a:rPr>
              <a:t>Technical Soundness of the Project</a:t>
            </a:r>
          </a:p>
        </p:txBody>
      </p:sp>
      <p:pic>
        <p:nvPicPr>
          <p:cNvPr id="3" name="Picture 2" descr="image.png"/>
          <p:cNvPicPr>
            <a:picLocks noChangeAspect="1"/>
          </p:cNvPicPr>
          <p:nvPr/>
        </p:nvPicPr>
        <p:blipFill>
          <a:blip r:embed="rId2"/>
          <a:stretch>
            <a:fillRect/>
          </a:stretch>
        </p:blipFill>
        <p:spPr>
          <a:xfrm>
            <a:off x="10249380" y="0"/>
            <a:ext cx="1942620" cy="622550"/>
          </a:xfrm>
          <a:prstGeom prst="rect">
            <a:avLst/>
          </a:prstGeom>
        </p:spPr>
      </p:pic>
      <p:sp>
        <p:nvSpPr>
          <p:cNvPr id="4" name="TextBox 3"/>
          <p:cNvSpPr txBox="1"/>
          <p:nvPr/>
        </p:nvSpPr>
        <p:spPr>
          <a:xfrm>
            <a:off x="679973" y="823300"/>
            <a:ext cx="6300215" cy="5642570"/>
          </a:xfrm>
          <a:prstGeom prst="rect">
            <a:avLst/>
          </a:prstGeom>
          <a:noFill/>
        </p:spPr>
        <p:txBody>
          <a:bodyPr wrap="square" lIns="76200" tIns="50800" rIns="76200" bIns="50800">
            <a:spAutoFit/>
          </a:bodyPr>
          <a:lstStyle/>
          <a:p>
            <a:pPr marL="285750" indent="-285750">
              <a:spcAft>
                <a:spcPts val="700"/>
              </a:spcAft>
              <a:buFont typeface="Arial"/>
              <a:buChar char="•"/>
            </a:pPr>
            <a:r>
              <a:rPr lang="en-US" sz="1600" b="1" dirty="0">
                <a:solidFill>
                  <a:srgbClr val="191919"/>
                </a:solidFill>
              </a:rPr>
              <a:t>Loose coupling: </a:t>
            </a:r>
            <a:r>
              <a:rPr lang="en-US" sz="1600" dirty="0">
                <a:solidFill>
                  <a:srgbClr val="191919"/>
                </a:solidFill>
              </a:rPr>
              <a:t>each service has one responsibility and interacts only through REST APIs and events.</a:t>
            </a:r>
          </a:p>
          <a:p>
            <a:pPr marL="285750" indent="-285750">
              <a:spcAft>
                <a:spcPts val="700"/>
              </a:spcAft>
              <a:buFont typeface="Arial"/>
              <a:buChar char="•"/>
            </a:pPr>
            <a:r>
              <a:rPr lang="en-US" sz="1600" b="1" dirty="0">
                <a:solidFill>
                  <a:srgbClr val="191919"/>
                </a:solidFill>
              </a:rPr>
              <a:t>Fault isolation: </a:t>
            </a:r>
            <a:r>
              <a:rPr lang="en-US" sz="1600" dirty="0">
                <a:solidFill>
                  <a:srgbClr val="191919"/>
                </a:solidFill>
              </a:rPr>
              <a:t>a failure in one service (e.g., Notification) does not stop diagnosis or dispatch.</a:t>
            </a:r>
          </a:p>
          <a:p>
            <a:pPr marL="285750" indent="-285750">
              <a:spcAft>
                <a:spcPts val="700"/>
              </a:spcAft>
              <a:buFont typeface="Arial"/>
              <a:buChar char="•"/>
            </a:pPr>
            <a:r>
              <a:rPr lang="en-US" sz="1600" b="1" dirty="0">
                <a:solidFill>
                  <a:srgbClr val="191919"/>
                </a:solidFill>
              </a:rPr>
              <a:t>Reliable dispatch: </a:t>
            </a:r>
            <a:r>
              <a:rPr lang="en-US" sz="1600" dirty="0">
                <a:solidFill>
                  <a:srgbClr val="191919"/>
                </a:solidFill>
              </a:rPr>
              <a:t>timeouts and automatic re-dispatch ensure a request is never left unassigned.</a:t>
            </a:r>
          </a:p>
          <a:p>
            <a:pPr marL="285750" indent="-285750">
              <a:spcAft>
                <a:spcPts val="700"/>
              </a:spcAft>
              <a:buFont typeface="Arial"/>
              <a:buChar char="•"/>
            </a:pPr>
            <a:r>
              <a:rPr lang="en-US" sz="1600" b="1" dirty="0">
                <a:solidFill>
                  <a:srgbClr val="191919"/>
                </a:solidFill>
              </a:rPr>
              <a:t>Auditable AI: </a:t>
            </a:r>
            <a:r>
              <a:rPr lang="en-US" sz="1600" dirty="0">
                <a:solidFill>
                  <a:srgbClr val="191919"/>
                </a:solidFill>
              </a:rPr>
              <a:t>diagnosis returns category, urgency, and confidence, with a rule-based fallback when confidence is low.</a:t>
            </a:r>
          </a:p>
          <a:p>
            <a:pPr marL="285750" indent="-285750">
              <a:spcAft>
                <a:spcPts val="700"/>
              </a:spcAft>
              <a:buFont typeface="Arial"/>
              <a:buChar char="•"/>
            </a:pPr>
            <a:r>
              <a:rPr lang="en-US" sz="1600" b="1" dirty="0">
                <a:solidFill>
                  <a:srgbClr val="191919"/>
                </a:solidFill>
              </a:rPr>
              <a:t>Security: </a:t>
            </a:r>
            <a:r>
              <a:rPr lang="en-US" sz="1600" dirty="0">
                <a:solidFill>
                  <a:srgbClr val="191919"/>
                </a:solidFill>
              </a:rPr>
              <a:t>JWT authentication, input validation, and controlled sharing of location data.</a:t>
            </a:r>
          </a:p>
          <a:p>
            <a:pPr marL="285750" indent="-285750">
              <a:spcAft>
                <a:spcPts val="700"/>
              </a:spcAft>
              <a:buFont typeface="Arial"/>
              <a:buChar char="•"/>
            </a:pPr>
            <a:r>
              <a:rPr lang="en-US" sz="1600" b="1" dirty="0">
                <a:solidFill>
                  <a:srgbClr val="191919"/>
                </a:solidFill>
              </a:rPr>
              <a:t>Traceability: </a:t>
            </a:r>
            <a:r>
              <a:rPr lang="en-US" sz="1600" dirty="0">
                <a:solidFill>
                  <a:srgbClr val="191919"/>
                </a:solidFill>
              </a:rPr>
              <a:t>requests, diagnoses, dispatch jobs, and notifications are stored.</a:t>
            </a:r>
          </a:p>
          <a:p>
            <a:pPr marL="285750" indent="-285750">
              <a:spcAft>
                <a:spcPts val="700"/>
              </a:spcAft>
              <a:buFont typeface="Arial"/>
              <a:buChar char="•"/>
            </a:pPr>
            <a:r>
              <a:rPr lang="en-US" sz="1600" b="1" dirty="0">
                <a:solidFill>
                  <a:srgbClr val="191919"/>
                </a:solidFill>
              </a:rPr>
              <a:t>Scalability: </a:t>
            </a:r>
            <a:r>
              <a:rPr lang="en-US" sz="1600" dirty="0">
                <a:solidFill>
                  <a:srgbClr val="191919"/>
                </a:solidFill>
              </a:rPr>
              <a:t>services such as Location and Dispatch can be scaled independently.</a:t>
            </a:r>
          </a:p>
          <a:p>
            <a:pPr marL="285750" indent="-285750">
              <a:spcAft>
                <a:spcPts val="700"/>
              </a:spcAft>
              <a:buFont typeface="Arial"/>
              <a:buChar char="•"/>
            </a:pPr>
            <a:r>
              <a:rPr lang="en-US" sz="1600" b="1" dirty="0">
                <a:solidFill>
                  <a:srgbClr val="191919"/>
                </a:solidFill>
              </a:rPr>
              <a:t>Integration testing </a:t>
            </a:r>
            <a:r>
              <a:rPr lang="en-US" sz="1600" dirty="0">
                <a:solidFill>
                  <a:srgbClr val="191919"/>
                </a:solidFill>
              </a:rPr>
              <a:t>verifies SOS, diagnosis, dispatch, tracking, and notification as one workflow.</a:t>
            </a:r>
          </a:p>
        </p:txBody>
      </p:sp>
      <p:pic>
        <p:nvPicPr>
          <p:cNvPr id="5" name="Picture 4" descr="image2.png"/>
          <p:cNvPicPr>
            <a:picLocks noChangeAspect="1"/>
          </p:cNvPicPr>
          <p:nvPr/>
        </p:nvPicPr>
        <p:blipFill>
          <a:blip r:embed="rId3"/>
          <a:stretch>
            <a:fillRect/>
          </a:stretch>
        </p:blipFill>
        <p:spPr>
          <a:xfrm>
            <a:off x="7219465" y="1113521"/>
            <a:ext cx="4449541" cy="545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96000" y="156188"/>
            <a:ext cx="9000000" cy="779701"/>
          </a:xfrm>
          <a:prstGeom prst="rect">
            <a:avLst/>
          </a:prstGeom>
          <a:noFill/>
        </p:spPr>
        <p:txBody>
          <a:bodyPr wrap="square" lIns="76200" tIns="50800" rIns="76200" bIns="50800">
            <a:spAutoFit/>
          </a:bodyPr>
          <a:lstStyle/>
          <a:p>
            <a:pPr algn="ctr"/>
            <a:r>
              <a:rPr lang="en-US" sz="3600" b="1" dirty="0">
                <a:solidFill>
                  <a:srgbClr val="191919"/>
                </a:solidFill>
              </a:rPr>
              <a:t>Technical Implementation</a:t>
            </a:r>
          </a:p>
        </p:txBody>
      </p:sp>
      <p:pic>
        <p:nvPicPr>
          <p:cNvPr id="3" name="Picture 2" descr="image.png"/>
          <p:cNvPicPr>
            <a:picLocks noChangeAspect="1"/>
          </p:cNvPicPr>
          <p:nvPr/>
        </p:nvPicPr>
        <p:blipFill>
          <a:blip r:embed="rId2"/>
          <a:stretch>
            <a:fillRect/>
          </a:stretch>
        </p:blipFill>
        <p:spPr>
          <a:xfrm>
            <a:off x="10249380" y="0"/>
            <a:ext cx="1942620" cy="622550"/>
          </a:xfrm>
          <a:prstGeom prst="rect">
            <a:avLst/>
          </a:prstGeom>
        </p:spPr>
      </p:pic>
      <p:sp>
        <p:nvSpPr>
          <p:cNvPr id="4" name="TextBox 3"/>
          <p:cNvSpPr txBox="1"/>
          <p:nvPr/>
        </p:nvSpPr>
        <p:spPr>
          <a:xfrm>
            <a:off x="549696" y="1100000"/>
            <a:ext cx="10800000" cy="6473567"/>
          </a:xfrm>
          <a:prstGeom prst="rect">
            <a:avLst/>
          </a:prstGeom>
          <a:noFill/>
        </p:spPr>
        <p:txBody>
          <a:bodyPr wrap="square" lIns="76200" tIns="50800" rIns="76200" bIns="50800">
            <a:spAutoFit/>
          </a:bodyPr>
          <a:lstStyle/>
          <a:p>
            <a:pPr marL="285750" indent="-285750">
              <a:spcAft>
                <a:spcPts val="700"/>
              </a:spcAft>
              <a:buFont typeface="Arial"/>
              <a:buChar char="•"/>
            </a:pPr>
            <a:r>
              <a:rPr lang="en-US" sz="1500" b="1" dirty="0">
                <a:solidFill>
                  <a:srgbClr val="191919"/>
                </a:solidFill>
              </a:rPr>
              <a:t>Driver App (Web/Mobile): </a:t>
            </a:r>
            <a:r>
              <a:rPr lang="en-US" sz="1500" dirty="0">
                <a:solidFill>
                  <a:srgbClr val="191919"/>
                </a:solidFill>
              </a:rPr>
              <a:t>SOS button, live location capture, request form, and tracking screen.</a:t>
            </a:r>
          </a:p>
          <a:p>
            <a:pPr marL="285750" indent="-285750">
              <a:spcAft>
                <a:spcPts val="700"/>
              </a:spcAft>
              <a:buFont typeface="Arial"/>
              <a:buChar char="•"/>
            </a:pPr>
            <a:r>
              <a:rPr lang="en-US" sz="1500" b="1" dirty="0">
                <a:solidFill>
                  <a:srgbClr val="191919"/>
                </a:solidFill>
              </a:rPr>
              <a:t>API Gateway: </a:t>
            </a:r>
            <a:r>
              <a:rPr lang="en-US" sz="1500" dirty="0">
                <a:solidFill>
                  <a:srgbClr val="191919"/>
                </a:solidFill>
              </a:rPr>
              <a:t>routes REST calls, applies JWT authentication and validation.</a:t>
            </a:r>
          </a:p>
          <a:p>
            <a:pPr marL="285750" indent="-285750">
              <a:spcAft>
                <a:spcPts val="700"/>
              </a:spcAft>
              <a:buFont typeface="Arial"/>
              <a:buChar char="•"/>
            </a:pPr>
            <a:r>
              <a:rPr lang="en-US" sz="1500" b="1" dirty="0">
                <a:solidFill>
                  <a:srgbClr val="191919"/>
                </a:solidFill>
              </a:rPr>
              <a:t>Diagnosis Service: </a:t>
            </a:r>
            <a:r>
              <a:rPr lang="en-US" sz="1500" dirty="0">
                <a:solidFill>
                  <a:srgbClr val="191919"/>
                </a:solidFill>
              </a:rPr>
              <a:t>analyses symptom text, photo, and OBD-II codes; returns fault category, urgency, and confidence.</a:t>
            </a:r>
          </a:p>
          <a:p>
            <a:pPr marL="285750" indent="-285750">
              <a:spcAft>
                <a:spcPts val="700"/>
              </a:spcAft>
              <a:buFont typeface="Arial"/>
              <a:buChar char="•"/>
            </a:pPr>
            <a:r>
              <a:rPr lang="en-US" sz="1500" b="1" dirty="0">
                <a:solidFill>
                  <a:srgbClr val="191919"/>
                </a:solidFill>
              </a:rPr>
              <a:t>Location Service: </a:t>
            </a:r>
            <a:r>
              <a:rPr lang="en-US" sz="1500" dirty="0">
                <a:solidFill>
                  <a:srgbClr val="191919"/>
                </a:solidFill>
              </a:rPr>
              <a:t>receives GPS updates, finds nearby providers, and computes distance and ETA.</a:t>
            </a:r>
          </a:p>
          <a:p>
            <a:pPr marL="285750" indent="-285750">
              <a:spcAft>
                <a:spcPts val="700"/>
              </a:spcAft>
              <a:buFont typeface="Arial"/>
              <a:buChar char="•"/>
            </a:pPr>
            <a:r>
              <a:rPr lang="en-US" sz="1500" b="1" dirty="0">
                <a:solidFill>
                  <a:srgbClr val="191919"/>
                </a:solidFill>
              </a:rPr>
              <a:t>Dispatch Service / AI Orchestrator: </a:t>
            </a:r>
            <a:r>
              <a:rPr lang="en-US" sz="1500" dirty="0">
                <a:solidFill>
                  <a:srgbClr val="191919"/>
                </a:solidFill>
              </a:rPr>
              <a:t>scores providers, assigns the job, and handles accept, reject, timeout, and re-dispatch.</a:t>
            </a:r>
          </a:p>
          <a:p>
            <a:pPr marL="285750" indent="-285750">
              <a:spcAft>
                <a:spcPts val="700"/>
              </a:spcAft>
              <a:buFont typeface="Arial"/>
              <a:buChar char="•"/>
            </a:pPr>
            <a:r>
              <a:rPr lang="en-US" sz="1500" b="1" dirty="0">
                <a:solidFill>
                  <a:srgbClr val="191919"/>
                </a:solidFill>
              </a:rPr>
              <a:t>Tracking Service: </a:t>
            </a:r>
            <a:r>
              <a:rPr lang="en-US" sz="1500" dirty="0">
                <a:solidFill>
                  <a:srgbClr val="191919"/>
                </a:solidFill>
              </a:rPr>
              <a:t>manages the job status lifecycle and live location for the driver.</a:t>
            </a:r>
          </a:p>
          <a:p>
            <a:pPr marL="285750" indent="-285750">
              <a:spcAft>
                <a:spcPts val="700"/>
              </a:spcAft>
              <a:buFont typeface="Arial"/>
              <a:buChar char="•"/>
            </a:pPr>
            <a:r>
              <a:rPr lang="en-US" sz="1500" b="1" dirty="0">
                <a:solidFill>
                  <a:srgbClr val="191919"/>
                </a:solidFill>
              </a:rPr>
              <a:t>Notification Service: </a:t>
            </a:r>
            <a:r>
              <a:rPr lang="en-US" sz="1500" dirty="0">
                <a:solidFill>
                  <a:srgbClr val="191919"/>
                </a:solidFill>
              </a:rPr>
              <a:t>sends SMS, push, and email alerts and stores delivery status.</a:t>
            </a:r>
          </a:p>
          <a:p>
            <a:pPr marL="285750" indent="-285750">
              <a:spcAft>
                <a:spcPts val="700"/>
              </a:spcAft>
              <a:buFont typeface="Arial"/>
              <a:buChar char="•"/>
            </a:pPr>
            <a:r>
              <a:rPr lang="en-US" sz="1500" b="1" dirty="0">
                <a:solidFill>
                  <a:srgbClr val="191919"/>
                </a:solidFill>
              </a:rPr>
              <a:t>Database: </a:t>
            </a:r>
            <a:r>
              <a:rPr lang="en-US" sz="1500" dirty="0">
                <a:solidFill>
                  <a:srgbClr val="191919"/>
                </a:solidFill>
              </a:rPr>
              <a:t>users, vehicles, requests, diagnoses, providers, jobs, and notifications.</a:t>
            </a:r>
          </a:p>
          <a:p>
            <a:pPr>
              <a:spcAft>
                <a:spcPts val="0"/>
              </a:spcAft>
              <a:buNone/>
            </a:pPr>
            <a:r>
              <a:rPr lang="en-US" sz="1500" b="1" dirty="0">
                <a:solidFill>
                  <a:srgbClr val="191919"/>
                </a:solidFill>
              </a:rPr>
              <a:t>Service Flow: </a:t>
            </a:r>
            <a:r>
              <a:rPr lang="en-US" sz="1500" dirty="0">
                <a:solidFill>
                  <a:srgbClr val="191919"/>
                </a:solidFill>
              </a:rPr>
              <a:t>Driver → API Gateway → Diagnosis → Location → Dispatch → Provider → Tracking → Notification → Driver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96000" y="232699"/>
            <a:ext cx="9000000" cy="779701"/>
          </a:xfrm>
          <a:prstGeom prst="rect">
            <a:avLst/>
          </a:prstGeom>
          <a:noFill/>
        </p:spPr>
        <p:txBody>
          <a:bodyPr wrap="square" lIns="76200" tIns="50800" rIns="76200" bIns="50800">
            <a:spAutoFit/>
          </a:bodyPr>
          <a:lstStyle/>
          <a:p>
            <a:pPr algn="ctr"/>
            <a:r>
              <a:rPr lang="en-US" sz="3600" b="1" dirty="0">
                <a:solidFill>
                  <a:srgbClr val="191919"/>
                </a:solidFill>
              </a:rPr>
              <a:t>Feasibility and Project Plan</a:t>
            </a:r>
          </a:p>
        </p:txBody>
      </p:sp>
      <p:pic>
        <p:nvPicPr>
          <p:cNvPr id="3" name="Picture 2" descr="image.png"/>
          <p:cNvPicPr>
            <a:picLocks noChangeAspect="1"/>
          </p:cNvPicPr>
          <p:nvPr/>
        </p:nvPicPr>
        <p:blipFill>
          <a:blip r:embed="rId2"/>
          <a:stretch>
            <a:fillRect/>
          </a:stretch>
        </p:blipFill>
        <p:spPr>
          <a:xfrm>
            <a:off x="10249380" y="0"/>
            <a:ext cx="1942620" cy="622550"/>
          </a:xfrm>
          <a:prstGeom prst="rect">
            <a:avLst/>
          </a:prstGeom>
        </p:spPr>
      </p:pic>
      <p:sp>
        <p:nvSpPr>
          <p:cNvPr id="4" name="TextBox 3"/>
          <p:cNvSpPr txBox="1"/>
          <p:nvPr/>
        </p:nvSpPr>
        <p:spPr>
          <a:xfrm>
            <a:off x="696000" y="1050000"/>
            <a:ext cx="10800000" cy="4900000"/>
          </a:xfrm>
          <a:prstGeom prst="rect">
            <a:avLst/>
          </a:prstGeom>
          <a:noFill/>
        </p:spPr>
        <p:txBody>
          <a:bodyPr wrap="square" lIns="76200" tIns="50800" rIns="76200" bIns="50800">
            <a:spAutoFit/>
          </a:bodyPr>
          <a:lstStyle/>
          <a:p>
            <a:pPr>
              <a:spcAft>
                <a:spcPts val="200"/>
              </a:spcAft>
              <a:buNone/>
            </a:pPr>
            <a:r>
              <a:rPr lang="en-US" sz="1600" b="1" dirty="0">
                <a:solidFill>
                  <a:srgbClr val="191919"/>
                </a:solidFill>
              </a:rPr>
              <a:t>Technical Feasibility</a:t>
            </a:r>
          </a:p>
          <a:p>
            <a:pPr>
              <a:spcAft>
                <a:spcPts val="900"/>
              </a:spcAft>
              <a:buNone/>
            </a:pPr>
            <a:r>
              <a:rPr lang="en-US" sz="1500" dirty="0">
                <a:solidFill>
                  <a:srgbClr val="191919"/>
                </a:solidFill>
              </a:rPr>
              <a:t>Can be built with standard web technologies: REST APIs, microservices, a relational database with location support, a maps/GPS API, a machine-learning text classifier, and an SMS or push notification gateway.</a:t>
            </a:r>
          </a:p>
          <a:p>
            <a:pPr>
              <a:spcAft>
                <a:spcPts val="200"/>
              </a:spcAft>
              <a:buNone/>
            </a:pPr>
            <a:r>
              <a:rPr lang="en-US" sz="1600" b="1" dirty="0">
                <a:solidFill>
                  <a:srgbClr val="191919"/>
                </a:solidFill>
              </a:rPr>
              <a:t>Operational Feasibility</a:t>
            </a:r>
          </a:p>
          <a:p>
            <a:pPr>
              <a:spcAft>
                <a:spcPts val="900"/>
              </a:spcAft>
              <a:buNone/>
            </a:pPr>
            <a:r>
              <a:rPr lang="en-US" sz="1500" dirty="0">
                <a:solidFill>
                  <a:srgbClr val="191919"/>
                </a:solidFill>
              </a:rPr>
              <a:t>Simple one-tap SOS request, automatic diagnosis and dispatch, live tracking, and clear status updates make the system easy for drivers and service providers to use.</a:t>
            </a:r>
          </a:p>
          <a:p>
            <a:pPr>
              <a:spcAft>
                <a:spcPts val="200"/>
              </a:spcAft>
              <a:buNone/>
            </a:pPr>
            <a:r>
              <a:rPr lang="en-US" sz="1600" b="1" dirty="0">
                <a:solidFill>
                  <a:srgbClr val="191919"/>
                </a:solidFill>
              </a:rPr>
              <a:t>Project Plan</a:t>
            </a:r>
          </a:p>
          <a:p>
            <a:pPr>
              <a:spcAft>
                <a:spcPts val="150"/>
              </a:spcAft>
              <a:buNone/>
            </a:pPr>
            <a:r>
              <a:rPr lang="en-US" sz="1500" b="1" dirty="0">
                <a:solidFill>
                  <a:srgbClr val="191919"/>
                </a:solidFill>
              </a:rPr>
              <a:t>Phase 1: </a:t>
            </a:r>
            <a:r>
              <a:rPr lang="en-US" sz="1500" dirty="0">
                <a:solidFill>
                  <a:srgbClr val="191919"/>
                </a:solidFill>
              </a:rPr>
              <a:t>Requirement Analysis and Problem Definition</a:t>
            </a:r>
          </a:p>
          <a:p>
            <a:pPr>
              <a:spcAft>
                <a:spcPts val="150"/>
              </a:spcAft>
              <a:buNone/>
            </a:pPr>
            <a:r>
              <a:rPr lang="en-US" sz="1500" b="1" dirty="0">
                <a:solidFill>
                  <a:srgbClr val="191919"/>
                </a:solidFill>
              </a:rPr>
              <a:t>Phase 2: </a:t>
            </a:r>
            <a:r>
              <a:rPr lang="en-US" sz="1500" dirty="0">
                <a:solidFill>
                  <a:srgbClr val="191919"/>
                </a:solidFill>
              </a:rPr>
              <a:t>Architecture and Database Design</a:t>
            </a:r>
          </a:p>
          <a:p>
            <a:pPr>
              <a:spcAft>
                <a:spcPts val="150"/>
              </a:spcAft>
              <a:buNone/>
            </a:pPr>
            <a:r>
              <a:rPr lang="en-US" sz="1500" b="1" dirty="0">
                <a:solidFill>
                  <a:srgbClr val="191919"/>
                </a:solidFill>
              </a:rPr>
              <a:t>Phase 3: </a:t>
            </a:r>
            <a:r>
              <a:rPr lang="en-US" sz="1500" dirty="0">
                <a:solidFill>
                  <a:srgbClr val="191919"/>
                </a:solidFill>
              </a:rPr>
              <a:t>User and Location Service Development</a:t>
            </a:r>
          </a:p>
          <a:p>
            <a:pPr>
              <a:spcAft>
                <a:spcPts val="150"/>
              </a:spcAft>
              <a:buNone/>
            </a:pPr>
            <a:r>
              <a:rPr lang="en-US" sz="1500" b="1" dirty="0">
                <a:solidFill>
                  <a:srgbClr val="191919"/>
                </a:solidFill>
              </a:rPr>
              <a:t>Phase 4: </a:t>
            </a:r>
            <a:r>
              <a:rPr lang="en-US" sz="1500" dirty="0">
                <a:solidFill>
                  <a:srgbClr val="191919"/>
                </a:solidFill>
              </a:rPr>
              <a:t>Diagnosis Service (AI Model) Development</a:t>
            </a:r>
          </a:p>
          <a:p>
            <a:pPr>
              <a:spcAft>
                <a:spcPts val="150"/>
              </a:spcAft>
              <a:buNone/>
            </a:pPr>
            <a:r>
              <a:rPr lang="en-US" sz="1500" b="1" dirty="0">
                <a:solidFill>
                  <a:srgbClr val="191919"/>
                </a:solidFill>
              </a:rPr>
              <a:t>Phase 5: </a:t>
            </a:r>
            <a:r>
              <a:rPr lang="en-US" sz="1500" dirty="0">
                <a:solidFill>
                  <a:srgbClr val="191919"/>
                </a:solidFill>
              </a:rPr>
              <a:t>Dispatch, Orchestration, and Tracking Services</a:t>
            </a:r>
          </a:p>
          <a:p>
            <a:pPr>
              <a:spcAft>
                <a:spcPts val="150"/>
              </a:spcAft>
              <a:buNone/>
            </a:pPr>
            <a:r>
              <a:rPr lang="en-US" sz="1500" b="1" dirty="0">
                <a:solidFill>
                  <a:srgbClr val="191919"/>
                </a:solidFill>
              </a:rPr>
              <a:t>Phase 6: </a:t>
            </a:r>
            <a:r>
              <a:rPr lang="en-US" sz="1500" dirty="0">
                <a:solidFill>
                  <a:srgbClr val="191919"/>
                </a:solidFill>
              </a:rPr>
              <a:t>Notification Integration and Dashboard</a:t>
            </a:r>
          </a:p>
          <a:p>
            <a:pPr>
              <a:spcAft>
                <a:spcPts val="150"/>
              </a:spcAft>
              <a:buNone/>
            </a:pPr>
            <a:r>
              <a:rPr lang="en-US" sz="1500" b="1" dirty="0">
                <a:solidFill>
                  <a:srgbClr val="191919"/>
                </a:solidFill>
              </a:rPr>
              <a:t>Phase 7: </a:t>
            </a:r>
            <a:r>
              <a:rPr lang="en-US" sz="1500" dirty="0">
                <a:solidFill>
                  <a:srgbClr val="191919"/>
                </a:solidFill>
              </a:rPr>
              <a:t>Unit, API, and Integration Testing</a:t>
            </a:r>
          </a:p>
          <a:p>
            <a:pPr>
              <a:spcAft>
                <a:spcPts val="150"/>
              </a:spcAft>
              <a:buNone/>
            </a:pPr>
            <a:r>
              <a:rPr lang="en-US" sz="1500" b="1" dirty="0">
                <a:solidFill>
                  <a:srgbClr val="191919"/>
                </a:solidFill>
              </a:rPr>
              <a:t>Phase 8: </a:t>
            </a:r>
            <a:r>
              <a:rPr lang="en-US" sz="1500" dirty="0">
                <a:solidFill>
                  <a:srgbClr val="191919"/>
                </a:solidFill>
              </a:rPr>
              <a:t>Documentation, Demonstration, and Final Review</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7" name="Rectangle 6"/>
          <p:cNvSpPr/>
          <p:nvPr/>
        </p:nvSpPr>
        <p:spPr>
          <a:xfrm>
            <a:off x="0" y="0"/>
            <a:ext cx="12192000" cy="6858000"/>
          </a:xfrm>
          <a:prstGeom prst="rect">
            <a:avLst/>
          </a:prstGeom>
          <a:noFill/>
          <a:ln w="25400">
            <a:solidFill>
              <a:srgbClr val="19191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9EF7CE10-08D9-83CF-7508-12575531E1E0}"/>
              </a:ext>
            </a:extLst>
          </p:cNvPr>
          <p:cNvSpPr txBox="1"/>
          <p:nvPr/>
        </p:nvSpPr>
        <p:spPr>
          <a:xfrm>
            <a:off x="1596000" y="232699"/>
            <a:ext cx="9000000" cy="779701"/>
          </a:xfrm>
          <a:prstGeom prst="rect">
            <a:avLst/>
          </a:prstGeom>
          <a:noFill/>
        </p:spPr>
        <p:txBody>
          <a:bodyPr wrap="square" lIns="76200" tIns="50800" rIns="76200" bIns="50800">
            <a:spAutoFit/>
          </a:bodyPr>
          <a:lstStyle/>
          <a:p>
            <a:pPr algn="ctr"/>
            <a:r>
              <a:rPr lang="en-US" sz="3600" b="1" dirty="0">
                <a:solidFill>
                  <a:srgbClr val="191919"/>
                </a:solidFill>
              </a:rPr>
              <a:t>Conclusion &amp; Future Work</a:t>
            </a:r>
          </a:p>
        </p:txBody>
      </p:sp>
      <p:sp>
        <p:nvSpPr>
          <p:cNvPr id="2" name="TextBox 1">
            <a:extLst>
              <a:ext uri="{FF2B5EF4-FFF2-40B4-BE49-F238E27FC236}">
                <a16:creationId xmlns:a16="http://schemas.microsoft.com/office/drawing/2014/main" id="{3F0303AA-CEE8-2513-1736-59CB3A5EF8E4}"/>
              </a:ext>
            </a:extLst>
          </p:cNvPr>
          <p:cNvSpPr txBox="1"/>
          <p:nvPr/>
        </p:nvSpPr>
        <p:spPr>
          <a:xfrm>
            <a:off x="777894" y="1000000"/>
            <a:ext cx="10116039" cy="5088573"/>
          </a:xfrm>
          <a:prstGeom prst="rect">
            <a:avLst/>
          </a:prstGeom>
          <a:noFill/>
        </p:spPr>
        <p:txBody>
          <a:bodyPr wrap="square" lIns="76200" tIns="50800" rIns="76200" bIns="50800" rtlCol="0">
            <a:spAutoFit/>
          </a:bodyPr>
          <a:lstStyle/>
          <a:p>
            <a:pPr>
              <a:spcAft>
                <a:spcPts val="200"/>
              </a:spcAft>
              <a:buNone/>
            </a:pPr>
            <a:r>
              <a:rPr lang="en-US" sz="1800" b="1" dirty="0">
                <a:solidFill>
                  <a:srgbClr val="191919"/>
                </a:solidFill>
              </a:rPr>
              <a:t>Conclusion</a:t>
            </a:r>
          </a:p>
          <a:p>
            <a:pPr>
              <a:spcAft>
                <a:spcPts val="800"/>
              </a:spcAft>
              <a:buNone/>
            </a:pPr>
            <a:r>
              <a:rPr lang="en-US" sz="1500" dirty="0">
                <a:solidFill>
                  <a:srgbClr val="191919"/>
                </a:solidFill>
              </a:rPr>
              <a:t>The proposed system provides a unified, service-oriented solution for breakdown assistance. AI diagnosis, automatic provider selection, autonomous dispatch, live tracking, and notifications reduce driver waiting time and remove the dependence on manual call-centre coordination.</a:t>
            </a:r>
          </a:p>
          <a:p>
            <a:pPr>
              <a:spcAft>
                <a:spcPts val="200"/>
              </a:spcAft>
              <a:buNone/>
            </a:pPr>
            <a:r>
              <a:rPr lang="en-US" sz="1800" b="1" dirty="0">
                <a:solidFill>
                  <a:srgbClr val="191919"/>
                </a:solidFill>
              </a:rPr>
              <a:t>Future Work</a:t>
            </a:r>
          </a:p>
          <a:p>
            <a:pPr marL="285750" indent="-285750">
              <a:spcAft>
                <a:spcPts val="400"/>
              </a:spcAft>
              <a:buFont typeface="Arial"/>
              <a:buChar char="•"/>
            </a:pPr>
            <a:r>
              <a:rPr lang="en-US" sz="1500" dirty="0">
                <a:solidFill>
                  <a:srgbClr val="191919"/>
                </a:solidFill>
              </a:rPr>
              <a:t>Real-time traffic-aware ETA and route optimisation.</a:t>
            </a:r>
          </a:p>
          <a:p>
            <a:pPr marL="285750" indent="-285750">
              <a:spcAft>
                <a:spcPts val="400"/>
              </a:spcAft>
              <a:buFont typeface="Arial"/>
              <a:buChar char="•"/>
            </a:pPr>
            <a:r>
              <a:rPr lang="en-US" sz="1500" dirty="0">
                <a:solidFill>
                  <a:srgbClr val="191919"/>
                </a:solidFill>
              </a:rPr>
              <a:t>Integration with live OBD-II / IoT vehicle telemetry for predictive breakdown alerts.</a:t>
            </a:r>
          </a:p>
          <a:p>
            <a:pPr marL="285750" indent="-285750">
              <a:spcAft>
                <a:spcPts val="400"/>
              </a:spcAft>
              <a:buFont typeface="Arial"/>
              <a:buChar char="•"/>
            </a:pPr>
            <a:r>
              <a:rPr lang="en-US" sz="1500" dirty="0">
                <a:solidFill>
                  <a:srgbClr val="191919"/>
                </a:solidFill>
              </a:rPr>
              <a:t>Learning-based provider ranking that improves from feedback and past jobs.</a:t>
            </a:r>
          </a:p>
          <a:p>
            <a:pPr marL="285750" indent="-285750">
              <a:spcAft>
                <a:spcPts val="400"/>
              </a:spcAft>
              <a:buFont typeface="Arial"/>
              <a:buChar char="•"/>
            </a:pPr>
            <a:r>
              <a:rPr lang="en-US" sz="1500" dirty="0">
                <a:solidFill>
                  <a:srgbClr val="191919"/>
                </a:solidFill>
              </a:rPr>
              <a:t>Voice and multilingual SOS requests.</a:t>
            </a:r>
          </a:p>
          <a:p>
            <a:pPr marL="285750" indent="-285750">
              <a:spcAft>
                <a:spcPts val="400"/>
              </a:spcAft>
              <a:buFont typeface="Arial"/>
              <a:buChar char="•"/>
            </a:pPr>
            <a:r>
              <a:rPr lang="en-US" sz="1500" dirty="0">
                <a:solidFill>
                  <a:srgbClr val="191919"/>
                </a:solidFill>
              </a:rPr>
              <a:t>In-app payments and service cost estimation.</a:t>
            </a:r>
          </a:p>
          <a:p>
            <a:pPr marL="285750" indent="-285750">
              <a:spcAft>
                <a:spcPts val="400"/>
              </a:spcAft>
              <a:buFont typeface="Arial"/>
              <a:buChar char="•"/>
            </a:pPr>
            <a:r>
              <a:rPr lang="en-US" sz="1500" dirty="0">
                <a:solidFill>
                  <a:srgbClr val="191919"/>
                </a:solidFill>
              </a:rPr>
              <a:t>Cloud deployment with monitoring and automatic scaling.</a:t>
            </a:r>
          </a:p>
          <a:p>
            <a:pPr>
              <a:spcAft>
                <a:spcPts val="200"/>
              </a:spcAft>
              <a:buNone/>
            </a:pPr>
            <a:r>
              <a:rPr lang="en-US" sz="1800" b="1" dirty="0">
                <a:solidFill>
                  <a:srgbClr val="191919"/>
                </a:solidFill>
              </a:rPr>
              <a:t>References</a:t>
            </a:r>
          </a:p>
          <a:p>
            <a:pPr>
              <a:spcAft>
                <a:spcPts val="400"/>
              </a:spcAft>
              <a:buNone/>
            </a:pPr>
            <a:r>
              <a:rPr lang="en-US" sz="1300" dirty="0">
                <a:solidFill>
                  <a:srgbClr val="191919"/>
                </a:solidFill>
              </a:rPr>
              <a:t>Datta, S. K., &amp; Bonnet, C. (2017). An IoT Framework for Intelligent Roadside Assistance System. IEEE ICCE-TW 2017.</a:t>
            </a:r>
          </a:p>
          <a:p>
            <a:pPr>
              <a:spcAft>
                <a:spcPts val="400"/>
              </a:spcAft>
              <a:buNone/>
            </a:pPr>
            <a:r>
              <a:rPr lang="en-US" sz="1300" dirty="0">
                <a:solidFill>
                  <a:srgbClr val="191919"/>
                </a:solidFill>
              </a:rPr>
              <a:t>US Patent 10,692,384. Data Processing System with Machine Learning Engine to Provide Roadside Assistance Functions.</a:t>
            </a:r>
          </a:p>
          <a:p>
            <a:pPr>
              <a:spcAft>
                <a:spcPts val="400"/>
              </a:spcAft>
              <a:buNone/>
            </a:pPr>
            <a:r>
              <a:rPr lang="en-US" sz="1300" dirty="0">
                <a:solidFill>
                  <a:srgbClr val="191919"/>
                </a:solidFill>
              </a:rPr>
              <a:t>Auto Rental News. HGS Axle SmartBot Automates Dispatch for Faster Roadside Assistance.</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TotalTime>
  <Words>1523</Words>
  <Application>Microsoft Office PowerPoint</Application>
  <PresentationFormat>Widescreen</PresentationFormat>
  <Paragraphs>125</Paragraphs>
  <Slides>12</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12</vt:i4>
      </vt:variant>
    </vt:vector>
  </HeadingPairs>
  <TitlesOfParts>
    <vt:vector size="20"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srikanth ch</dc:creator>
  <cp:lastModifiedBy>madamanchi lekha sri</cp:lastModifiedBy>
  <cp:revision>39</cp:revision>
  <dcterms:created xsi:type="dcterms:W3CDTF">2026-08-08T06:33:56Z</dcterms:created>
  <dcterms:modified xsi:type="dcterms:W3CDTF">2026-09-28T08:37:54Z</dcterms:modified>
</cp:coreProperties>
</file>