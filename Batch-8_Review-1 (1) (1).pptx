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62" r:id="rId3"/>
    <p:sldId id="707" r:id="rId4"/>
    <p:sldId id="904" r:id="rId5"/>
    <p:sldId id="257" r:id="rId6"/>
    <p:sldId id="903" r:id="rId7"/>
    <p:sldId id="902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20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20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20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20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20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20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571943"/>
              </p:ext>
            </p:extLst>
          </p:nvPr>
        </p:nvGraphicFramePr>
        <p:xfrm>
          <a:off x="8193271" y="4898509"/>
          <a:ext cx="3702050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R. Dhanusha (2420030159)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M. Lekha Sri (2420030334)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937444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NEELIMA GOGINENI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Associate</a:t>
                      </a: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20-08-2026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62798" y="800869"/>
            <a:ext cx="10557892" cy="1095773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0373828-D2A2-922D-976E-B20299875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3865670"/>
              </p:ext>
            </p:extLst>
          </p:nvPr>
        </p:nvGraphicFramePr>
        <p:xfrm>
          <a:off x="738187" y="936808"/>
          <a:ext cx="10382097" cy="883920"/>
        </p:xfrm>
        <a:graphic>
          <a:graphicData uri="http://schemas.openxmlformats.org/drawingml/2006/table">
            <a:tbl>
              <a:tblPr/>
              <a:tblGrid>
                <a:gridCol w="10382097">
                  <a:extLst>
                    <a:ext uri="{9D8B030D-6E8A-4147-A177-3AD203B41FA5}">
                      <a16:colId xmlns:a16="http://schemas.microsoft.com/office/drawing/2014/main" val="3654819173"/>
                    </a:ext>
                  </a:extLst>
                </a:gridCol>
              </a:tblGrid>
              <a:tr h="44719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2800" dirty="0">
                          <a:effectLst/>
                          <a:latin typeface="Arial" panose="020B0604020202020204" pitchFamily="34" charset="0"/>
                        </a:rPr>
                        <a:t>            AI-Driven - Smart Vehicle Breakdown Assistance and</a:t>
                      </a:r>
                    </a:p>
                    <a:p>
                      <a:pPr rtl="0" fontAlgn="b">
                        <a:buNone/>
                      </a:pPr>
                      <a:r>
                        <a:rPr lang="en-IN" sz="2800" dirty="0">
                          <a:effectLst/>
                          <a:latin typeface="Arial" panose="020B0604020202020204" pitchFamily="34" charset="0"/>
                        </a:rPr>
                        <a:t>                   Autonomous Service Coordination System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9361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050087-CC3E-CC63-AF49-0B08E9A0B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20 August 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2CA565-4A7F-FD55-D6DD-FF9970481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50120F-B295-4794-5BB3-3C2A5EA14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3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7AADF4-4AD6-FC8D-AFB2-646D63928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528" y="857864"/>
            <a:ext cx="5612943" cy="51471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79CBF2-CE63-180D-3F04-A7702BF84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5736"/>
            <a:ext cx="12192000" cy="67619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AA7EC52-5C75-E7F1-43D7-D064769EF4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0629" y="48025"/>
            <a:ext cx="1581371" cy="6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397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175" y="1450000"/>
            <a:ext cx="1091565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r>
              <a:rPr sz="1900" b="1">
                <a:solidFill>
                  <a:srgbClr val="333333"/>
                </a:solidFill>
                <a:latin typeface="Calibri"/>
              </a:rPr>
              <a:t>Unpredictable breakdowns: </a:t>
            </a:r>
            <a:r>
              <a:rPr sz="1900" b="0">
                <a:solidFill>
                  <a:srgbClr val="333333"/>
                </a:solidFill>
                <a:latin typeface="Calibri"/>
              </a:rPr>
              <a:t>Engine failure, battery issues, flat tires, overheating, or fuel problems can strand drivers with no warning — especially on long journeys or in unfamiliar areas.</a:t>
            </a:r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r>
              <a:rPr sz="1900" b="1">
                <a:solidFill>
                  <a:srgbClr val="333333"/>
                </a:solidFill>
                <a:latin typeface="Calibri"/>
              </a:rPr>
              <a:t>Slow, manual assistance: </a:t>
            </a:r>
            <a:r>
              <a:rPr sz="1900" b="0">
                <a:solidFill>
                  <a:srgbClr val="333333"/>
                </a:solidFill>
                <a:latin typeface="Calibri"/>
              </a:rPr>
              <a:t>Traditional roadside help depends on manually searching for a nearby mechanic or waiting for a service call, which wastes critical time during emergencies.</a:t>
            </a:r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r>
              <a:rPr sz="1900" b="1">
                <a:solidFill>
                  <a:srgbClr val="333333"/>
                </a:solidFill>
                <a:latin typeface="Calibri"/>
              </a:rPr>
              <a:t>No centralized platform: </a:t>
            </a:r>
            <a:r>
              <a:rPr sz="1900" b="0">
                <a:solidFill>
                  <a:srgbClr val="333333"/>
                </a:solidFill>
                <a:latin typeface="Calibri"/>
              </a:rPr>
              <a:t>There is no single system that lets a driver report a breakdown, share their exact location, and get matched automatically with the right kind of nearby help.</a:t>
            </a:r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r>
              <a:rPr sz="1900" b="1">
                <a:solidFill>
                  <a:srgbClr val="333333"/>
                </a:solidFill>
                <a:latin typeface="Calibri"/>
              </a:rPr>
              <a:t>Poor coordination: </a:t>
            </a:r>
            <a:r>
              <a:rPr sz="1900" b="0">
                <a:solidFill>
                  <a:srgbClr val="333333"/>
                </a:solidFill>
                <a:latin typeface="Calibri"/>
              </a:rPr>
              <a:t>Vehicle owners, service providers, and administrators currently have no shared, real-time view of a request's status — leading to delays and miscommunication.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175" y="1450000"/>
            <a:ext cx="1091565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1300"/>
              </a:spcAft>
              <a:buFont typeface="Arial"/>
              <a:buChar char="•"/>
            </a:pPr>
            <a:r>
              <a:rPr sz="1750" b="1">
                <a:solidFill>
                  <a:srgbClr val="333333"/>
                </a:solidFill>
                <a:latin typeface="Calibri"/>
              </a:rPr>
              <a:t>Centralized reporting: </a:t>
            </a:r>
            <a:r>
              <a:rPr sz="1750" b="0">
                <a:solidFill>
                  <a:srgbClr val="333333"/>
                </a:solidFill>
                <a:latin typeface="Calibri"/>
              </a:rPr>
              <a:t>Provide a single platform where users can register vehicles, report breakdown details, and share live GPS location.</a:t>
            </a:r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Font typeface="Arial"/>
              <a:buChar char="•"/>
            </a:pPr>
            <a:r>
              <a:rPr sz="1750" b="1">
                <a:solidFill>
                  <a:srgbClr val="333333"/>
                </a:solidFill>
                <a:latin typeface="Calibri"/>
              </a:rPr>
              <a:t>Smart matching: </a:t>
            </a:r>
            <a:r>
              <a:rPr sz="1750" b="0">
                <a:solidFill>
                  <a:srgbClr val="333333"/>
                </a:solidFill>
                <a:latin typeface="Calibri"/>
              </a:rPr>
              <a:t>Automatically identify the type of breakdown and connect the user with suitable, nearby service providers.</a:t>
            </a:r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Font typeface="Arial"/>
              <a:buChar char="•"/>
            </a:pPr>
            <a:r>
              <a:rPr sz="1750" b="1">
                <a:solidFill>
                  <a:srgbClr val="333333"/>
                </a:solidFill>
                <a:latin typeface="Calibri"/>
              </a:rPr>
              <a:t>Structured provider workflow: </a:t>
            </a:r>
            <a:r>
              <a:rPr sz="1750" b="0">
                <a:solidFill>
                  <a:srgbClr val="333333"/>
                </a:solidFill>
                <a:latin typeface="Calibri"/>
              </a:rPr>
              <a:t>Let service providers view, accept or reject requests, navigate to the user, and update the service status.</a:t>
            </a:r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Font typeface="Arial"/>
              <a:buChar char="•"/>
            </a:pPr>
            <a:r>
              <a:rPr sz="1750" b="1">
                <a:solidFill>
                  <a:srgbClr val="333333"/>
                </a:solidFill>
                <a:latin typeface="Calibri"/>
              </a:rPr>
              <a:t>Real-time tracking &amp; notifications: </a:t>
            </a:r>
            <a:r>
              <a:rPr sz="1750" b="0">
                <a:solidFill>
                  <a:srgbClr val="333333"/>
                </a:solidFill>
                <a:latin typeface="Calibri"/>
              </a:rPr>
              <a:t>Keep users informed at every stage — acceptance, en-route, in-progress, and completion — with live status updates.</a:t>
            </a:r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Font typeface="Arial"/>
              <a:buChar char="•"/>
            </a:pPr>
            <a:r>
              <a:rPr sz="1750" b="1">
                <a:solidFill>
                  <a:srgbClr val="333333"/>
                </a:solidFill>
                <a:latin typeface="Calibri"/>
              </a:rPr>
              <a:t>Administrative oversight: </a:t>
            </a:r>
            <a:r>
              <a:rPr sz="1750" b="0">
                <a:solidFill>
                  <a:srgbClr val="333333"/>
                </a:solidFill>
                <a:latin typeface="Calibri"/>
              </a:rPr>
              <a:t>Build an admin module to manage users, service providers, breakdown requests, and monitor overall service quality.</a:t>
            </a:r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Font typeface="Arial"/>
              <a:buChar char="•"/>
            </a:pPr>
            <a:r>
              <a:rPr sz="1750" b="1">
                <a:solidFill>
                  <a:srgbClr val="333333"/>
                </a:solidFill>
                <a:latin typeface="Calibri"/>
              </a:rPr>
              <a:t>Records &amp; analytics: </a:t>
            </a:r>
            <a:r>
              <a:rPr sz="1750" b="0">
                <a:solidFill>
                  <a:srgbClr val="333333"/>
                </a:solidFill>
                <a:latin typeface="Calibri"/>
              </a:rPr>
              <a:t>Maintain breakdown and service history to support reporting, performance tracking, and continuous improvement.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012633"/>
              </p:ext>
            </p:extLst>
          </p:nvPr>
        </p:nvGraphicFramePr>
        <p:xfrm>
          <a:off x="274646" y="689466"/>
          <a:ext cx="11642705" cy="463905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G. Thiagarajan et al.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Vehicle Breakdown Assistance System for On-Road, IRJAEH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Mobile platform using real-time location matching (Flutter/OpenStreetMap) with AI-based service allocation and Firebase 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Reported around 92% allocation accuracy and faster response than earlier benchmark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Depends on continuous network connectivity; predictive fault detection not yet implemented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M. Dongre et al. (2020)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IoT-Based On-Road Vehicle Breakdown Assistance, IJSRCSEIT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GPS and GSM modules paired with a mobile app to dispatch the nearest mechanic and send emergency alerts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Reduced emergency response time to about 3 minutes and improved mechanic-location efficiency by roughly 40%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Hardware-dependent (dedicated GPS/GSM modules), limiting scalability as a pure software service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V. Pavan Kalyan et al. (2025)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RESQDRIVE: Real-Time Vehicle Breakdown Assistance Web App, SSRN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Location-aware web application connecting drivers and mechanics via role-based dashboards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Showed lightweight web platforms can deliver scalable, real-time roadside coordination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Web-only reach; lacks a dedicated admin analytics/monitoring layer across requests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6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175" y="2150000"/>
            <a:ext cx="1091565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 indent="-182880">
              <a:lnSpc>
                <a:spcPct val="115000"/>
              </a:lnSpc>
              <a:spcAft>
                <a:spcPts val="1300"/>
              </a:spcAft>
              <a:buFont typeface="Arial"/>
              <a:buChar char="•"/>
            </a:pPr>
            <a:r>
              <a:rPr sz="1700" b="1">
                <a:solidFill>
                  <a:srgbClr val="333333"/>
                </a:solidFill>
                <a:latin typeface="Calibri"/>
              </a:rPr>
              <a:t>Fragmented workflows: </a:t>
            </a:r>
            <a:r>
              <a:rPr sz="1700" b="0">
                <a:solidFill>
                  <a:srgbClr val="333333"/>
                </a:solidFill>
                <a:latin typeface="Calibri"/>
              </a:rPr>
              <a:t>Existing apps mostly cover mechanic discovery or GPS tracking alone, with no end-to-end flow from breakdown report to service completion.</a:t>
            </a:r>
          </a:p>
          <a:p>
            <a:pPr marL="182880" indent="-182880">
              <a:lnSpc>
                <a:spcPct val="115000"/>
              </a:lnSpc>
              <a:spcAft>
                <a:spcPts val="1300"/>
              </a:spcAft>
              <a:buFont typeface="Arial"/>
              <a:buChar char="•"/>
            </a:pPr>
            <a:r>
              <a:rPr sz="1700" b="1">
                <a:solidFill>
                  <a:srgbClr val="333333"/>
                </a:solidFill>
                <a:latin typeface="Calibri"/>
              </a:rPr>
              <a:t>Single-platform lock-in: </a:t>
            </a:r>
            <a:r>
              <a:rPr sz="1700" b="0">
                <a:solidFill>
                  <a:srgbClr val="333333"/>
                </a:solidFill>
                <a:latin typeface="Calibri"/>
              </a:rPr>
              <a:t>Most solutions are mobile-only or web-only monoliths rather than a service-oriented architecture where modules can scale and evolve independently.</a:t>
            </a:r>
          </a:p>
          <a:p>
            <a:pPr marL="182880" indent="-182880">
              <a:lnSpc>
                <a:spcPct val="115000"/>
              </a:lnSpc>
              <a:spcAft>
                <a:spcPts val="1300"/>
              </a:spcAft>
              <a:buFont typeface="Arial"/>
              <a:buChar char="•"/>
            </a:pPr>
            <a:r>
              <a:rPr sz="1700" b="1">
                <a:solidFill>
                  <a:srgbClr val="333333"/>
                </a:solidFill>
                <a:latin typeface="Calibri"/>
              </a:rPr>
              <a:t>Weak administrative visibility: </a:t>
            </a:r>
            <a:r>
              <a:rPr sz="1700" b="0">
                <a:solidFill>
                  <a:srgbClr val="333333"/>
                </a:solidFill>
                <a:latin typeface="Calibri"/>
              </a:rPr>
              <a:t>Very few systems give administrators a unified view to monitor users, providers, requests, and service quality in one place.</a:t>
            </a:r>
          </a:p>
          <a:p>
            <a:pPr marL="182880" indent="-182880">
              <a:lnSpc>
                <a:spcPct val="115000"/>
              </a:lnSpc>
              <a:spcAft>
                <a:spcPts val="1300"/>
              </a:spcAft>
              <a:buFont typeface="Arial"/>
              <a:buChar char="•"/>
            </a:pPr>
            <a:r>
              <a:rPr sz="1700" b="1">
                <a:solidFill>
                  <a:srgbClr val="333333"/>
                </a:solidFill>
                <a:latin typeface="Calibri"/>
              </a:rPr>
              <a:t>No automated issue classification: </a:t>
            </a:r>
            <a:r>
              <a:rPr sz="1700" b="0">
                <a:solidFill>
                  <a:srgbClr val="333333"/>
                </a:solidFill>
                <a:latin typeface="Calibri"/>
              </a:rPr>
              <a:t>Reported problems (engine, battery, tyre, fuel, overheating) are rarely auto-classified, so requests aren't routed to the right specialist provider.</a:t>
            </a:r>
          </a:p>
          <a:p>
            <a:pPr marL="182880" indent="-182880">
              <a:lnSpc>
                <a:spcPct val="115000"/>
              </a:lnSpc>
              <a:spcAft>
                <a:spcPts val="1300"/>
              </a:spcAft>
              <a:buFont typeface="Arial"/>
              <a:buChar char="•"/>
            </a:pPr>
            <a:r>
              <a:rPr sz="1700" b="1">
                <a:solidFill>
                  <a:srgbClr val="333333"/>
                </a:solidFill>
                <a:latin typeface="Calibri"/>
              </a:rPr>
              <a:t>Limited data-driven insight: </a:t>
            </a:r>
            <a:r>
              <a:rPr sz="1700" b="0">
                <a:solidFill>
                  <a:srgbClr val="333333"/>
                </a:solidFill>
                <a:latin typeface="Calibri"/>
              </a:rPr>
              <a:t>Existing systems seldom capture structured records for analytics such as response time, completion rate, or provider performance.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175" y="2150000"/>
            <a:ext cx="1091565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 indent="-182880">
              <a:lnSpc>
                <a:spcPct val="115000"/>
              </a:lnSpc>
              <a:spcAft>
                <a:spcPts val="1300"/>
              </a:spcAft>
              <a:buFont typeface="Arial"/>
              <a:buChar char="•"/>
            </a:pPr>
            <a:r>
              <a:rPr sz="1700" b="1">
                <a:solidFill>
                  <a:srgbClr val="333333"/>
                </a:solidFill>
                <a:latin typeface="Calibri"/>
              </a:rPr>
              <a:t>Service-oriented design: </a:t>
            </a:r>
            <a:r>
              <a:rPr sz="1700" b="0">
                <a:solidFill>
                  <a:srgbClr val="333333"/>
                </a:solidFill>
                <a:latin typeface="Calibri"/>
              </a:rPr>
              <a:t>Registration, request handling, matching, notifications, tracking, and admin analytics are built as independent, loosely-coupled microservices for easy scaling and maintenance.</a:t>
            </a:r>
          </a:p>
          <a:p>
            <a:pPr marL="182880" indent="-182880">
              <a:lnSpc>
                <a:spcPct val="115000"/>
              </a:lnSpc>
              <a:spcAft>
                <a:spcPts val="1300"/>
              </a:spcAft>
              <a:buFont typeface="Arial"/>
              <a:buChar char="•"/>
            </a:pPr>
            <a:r>
              <a:rPr sz="1700" b="1">
                <a:solidFill>
                  <a:srgbClr val="333333"/>
                </a:solidFill>
                <a:latin typeface="Calibri"/>
              </a:rPr>
              <a:t>Breakdown-aware matching: </a:t>
            </a:r>
            <a:r>
              <a:rPr sz="1700" b="0">
                <a:solidFill>
                  <a:srgbClr val="333333"/>
                </a:solidFill>
                <a:latin typeface="Calibri"/>
              </a:rPr>
              <a:t>The system automatically classifies the reported issue and routes it to the right category of nearby service provider, rather than a generic mechanic list.</a:t>
            </a:r>
          </a:p>
          <a:p>
            <a:pPr marL="182880" indent="-182880">
              <a:lnSpc>
                <a:spcPct val="115000"/>
              </a:lnSpc>
              <a:spcAft>
                <a:spcPts val="1300"/>
              </a:spcAft>
              <a:buFont typeface="Arial"/>
              <a:buChar char="•"/>
            </a:pPr>
            <a:r>
              <a:rPr sz="1700" b="1">
                <a:solidFill>
                  <a:srgbClr val="333333"/>
                </a:solidFill>
                <a:latin typeface="Calibri"/>
              </a:rPr>
              <a:t>Unified multi-stakeholder experience: </a:t>
            </a:r>
            <a:r>
              <a:rPr sz="1700" b="0">
                <a:solidFill>
                  <a:srgbClr val="333333"/>
                </a:solidFill>
                <a:latin typeface="Calibri"/>
              </a:rPr>
              <a:t>One platform connects vehicle owners, service providers, and administrators with synchronized, real-time status updates end to end.</a:t>
            </a:r>
          </a:p>
          <a:p>
            <a:pPr marL="182880" indent="-182880">
              <a:lnSpc>
                <a:spcPct val="115000"/>
              </a:lnSpc>
              <a:spcAft>
                <a:spcPts val="1300"/>
              </a:spcAft>
              <a:buFont typeface="Arial"/>
              <a:buChar char="•"/>
            </a:pPr>
            <a:r>
              <a:rPr sz="1700" b="1">
                <a:solidFill>
                  <a:srgbClr val="333333"/>
                </a:solidFill>
                <a:latin typeface="Calibri"/>
              </a:rPr>
              <a:t>Built-in analytics: </a:t>
            </a:r>
            <a:r>
              <a:rPr sz="1700" b="0">
                <a:solidFill>
                  <a:srgbClr val="333333"/>
                </a:solidFill>
                <a:latin typeface="Calibri"/>
              </a:rPr>
              <a:t>A dedicated reporting module tracks request volume, completion rates, and provider performance, enabling continuous, data-driven improvement of the service.</a:t>
            </a:r>
          </a:p>
          <a:p>
            <a:pPr marL="182880" indent="-182880">
              <a:lnSpc>
                <a:spcPct val="115000"/>
              </a:lnSpc>
              <a:spcAft>
                <a:spcPts val="1300"/>
              </a:spcAft>
              <a:buFont typeface="Arial"/>
              <a:buChar char="•"/>
            </a:pPr>
            <a:r>
              <a:rPr sz="1700" b="1">
                <a:solidFill>
                  <a:srgbClr val="333333"/>
                </a:solidFill>
                <a:latin typeface="Calibri"/>
              </a:rPr>
              <a:t>Location-first UX: </a:t>
            </a:r>
            <a:r>
              <a:rPr sz="1700" b="0">
                <a:solidFill>
                  <a:srgbClr val="333333"/>
                </a:solidFill>
                <a:latin typeface="Calibri"/>
              </a:rPr>
              <a:t>GPS-based location capture and map-based nearest-provider discovery minimize the time and effort needed to get help during a stressful situation.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638175" y="1520000"/>
            <a:ext cx="3000000" cy="40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2000" b="1">
                <a:solidFill>
                  <a:srgbClr val="0070C0"/>
                </a:solidFill>
                <a:latin typeface="Calibri"/>
              </a:rPr>
              <a:t>Feasibility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175" y="1950000"/>
            <a:ext cx="1091565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 indent="-182880">
              <a:lnSpc>
                <a:spcPct val="105000"/>
              </a:lnSpc>
              <a:spcAft>
                <a:spcPts val="500"/>
              </a:spcAft>
              <a:buFont typeface="Arial"/>
              <a:buChar char="•"/>
            </a:pPr>
            <a:r>
              <a:rPr sz="1400" b="1">
                <a:solidFill>
                  <a:srgbClr val="333333"/>
                </a:solidFill>
                <a:latin typeface="Calibri"/>
              </a:rPr>
              <a:t>Technical: </a:t>
            </a:r>
            <a:r>
              <a:rPr sz="1400" b="0">
                <a:solidFill>
                  <a:srgbClr val="333333"/>
                </a:solidFill>
                <a:latin typeface="Calibri"/>
              </a:rPr>
              <a:t>Microservices backend, MySQL database, GPS-based location services, and a mobile/web front end.</a:t>
            </a:r>
          </a:p>
          <a:p>
            <a:pPr marL="182880" indent="-182880">
              <a:lnSpc>
                <a:spcPct val="105000"/>
              </a:lnSpc>
              <a:spcAft>
                <a:spcPts val="500"/>
              </a:spcAft>
              <a:buFont typeface="Arial"/>
              <a:buChar char="•"/>
            </a:pPr>
            <a:r>
              <a:rPr sz="1400" b="1">
                <a:solidFill>
                  <a:srgbClr val="333333"/>
                </a:solidFill>
                <a:latin typeface="Calibri"/>
              </a:rPr>
              <a:t>Operational: </a:t>
            </a:r>
            <a:r>
              <a:rPr sz="1400" b="0">
                <a:solidFill>
                  <a:srgbClr val="333333"/>
                </a:solidFill>
                <a:latin typeface="Calibri"/>
              </a:rPr>
              <a:t>Simple registration and request flow, with a clear accept/reject/update workflow for providers.</a:t>
            </a:r>
          </a:p>
          <a:p>
            <a:pPr marL="182880" indent="-182880">
              <a:lnSpc>
                <a:spcPct val="105000"/>
              </a:lnSpc>
              <a:spcAft>
                <a:spcPts val="500"/>
              </a:spcAft>
              <a:buFont typeface="Arial"/>
              <a:buChar char="•"/>
            </a:pPr>
            <a:r>
              <a:rPr sz="1400" b="1">
                <a:solidFill>
                  <a:srgbClr val="333333"/>
                </a:solidFill>
                <a:latin typeface="Calibri"/>
              </a:rPr>
              <a:t>Economic: </a:t>
            </a:r>
            <a:r>
              <a:rPr sz="1400" b="0">
                <a:solidFill>
                  <a:srgbClr val="333333"/>
                </a:solidFill>
                <a:latin typeface="Calibri"/>
              </a:rPr>
              <a:t>Open-source frameworks and cloud hosting keep costs low for an academic-scale rollout.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175" y="3620000"/>
            <a:ext cx="4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70C0"/>
                </a:solidFill>
                <a:latin typeface="Calibri"/>
              </a:rPr>
              <a:t>Project Timeline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175" y="4060000"/>
            <a:ext cx="2111130" cy="1800000"/>
          </a:xfrm>
          <a:prstGeom prst="roundRect">
            <a:avLst>
              <a:gd name="adj" fmla="val 8000"/>
            </a:avLst>
          </a:prstGeom>
          <a:solidFill>
            <a:srgbClr val="004E8C"/>
          </a:solidFill>
          <a:ln>
            <a:solidFill>
              <a:srgbClr val="00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60000" rIns="80000" bIns="6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Phase 1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Requirement Analysis &amp; Design</a:t>
            </a:r>
          </a:p>
          <a:p>
            <a:pPr algn="ctr">
              <a:spcBef>
                <a:spcPts val="600"/>
              </a:spcBef>
            </a:pPr>
            <a:r>
              <a:rPr sz="1100" b="1">
                <a:solidFill>
                  <a:srgbClr val="FFE599"/>
                </a:solidFill>
                <a:latin typeface="Calibri"/>
              </a:rPr>
              <a:t>Wk 1-2</a:t>
            </a:r>
          </a:p>
        </p:txBody>
      </p:sp>
      <p:sp>
        <p:nvSpPr>
          <p:cNvPr id="9" name="Chevron 8"/>
          <p:cNvSpPr/>
          <p:nvPr/>
        </p:nvSpPr>
        <p:spPr>
          <a:xfrm>
            <a:off x="2758305" y="4830000"/>
            <a:ext cx="72000" cy="26000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839305" y="4060000"/>
            <a:ext cx="2111130" cy="1800000"/>
          </a:xfrm>
          <a:prstGeom prst="roundRect">
            <a:avLst>
              <a:gd name="adj" fmla="val 8000"/>
            </a:avLst>
          </a:prstGeom>
          <a:solidFill>
            <a:srgbClr val="0063A8"/>
          </a:solidFill>
          <a:ln>
            <a:solidFill>
              <a:srgbClr val="006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60000" rIns="80000" bIns="6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Phase 2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Database &amp; Microservices Setup</a:t>
            </a:r>
          </a:p>
          <a:p>
            <a:pPr algn="ctr">
              <a:spcBef>
                <a:spcPts val="600"/>
              </a:spcBef>
            </a:pPr>
            <a:r>
              <a:rPr sz="1100" b="1">
                <a:solidFill>
                  <a:srgbClr val="FFE599"/>
                </a:solidFill>
                <a:latin typeface="Calibri"/>
              </a:rPr>
              <a:t>Wk 3-4</a:t>
            </a:r>
          </a:p>
        </p:txBody>
      </p:sp>
      <p:sp>
        <p:nvSpPr>
          <p:cNvPr id="11" name="Chevron 10"/>
          <p:cNvSpPr/>
          <p:nvPr/>
        </p:nvSpPr>
        <p:spPr>
          <a:xfrm>
            <a:off x="4959435" y="4830000"/>
            <a:ext cx="72000" cy="26000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40435" y="4060000"/>
            <a:ext cx="2111130" cy="18000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60000" rIns="80000" bIns="6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Phase 3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Core Module Development</a:t>
            </a:r>
          </a:p>
          <a:p>
            <a:pPr algn="ctr">
              <a:spcBef>
                <a:spcPts val="600"/>
              </a:spcBef>
            </a:pPr>
            <a:r>
              <a:rPr sz="1100" b="1">
                <a:solidFill>
                  <a:srgbClr val="FFE599"/>
                </a:solidFill>
                <a:latin typeface="Calibri"/>
              </a:rPr>
              <a:t>Wk 5-7</a:t>
            </a:r>
          </a:p>
        </p:txBody>
      </p:sp>
      <p:sp>
        <p:nvSpPr>
          <p:cNvPr id="13" name="Chevron 12"/>
          <p:cNvSpPr/>
          <p:nvPr/>
        </p:nvSpPr>
        <p:spPr>
          <a:xfrm>
            <a:off x="7160565" y="4830000"/>
            <a:ext cx="72000" cy="26000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241565" y="4060000"/>
            <a:ext cx="2111130" cy="1800000"/>
          </a:xfrm>
          <a:prstGeom prst="roundRect">
            <a:avLst>
              <a:gd name="adj" fmla="val 8000"/>
            </a:avLst>
          </a:prstGeom>
          <a:solidFill>
            <a:srgbClr val="1F8AD1"/>
          </a:solidFill>
          <a:ln>
            <a:solidFill>
              <a:srgbClr val="1F8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60000" rIns="80000" bIns="6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Phase 4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Notifications &amp; Admin Panel</a:t>
            </a:r>
          </a:p>
          <a:p>
            <a:pPr algn="ctr">
              <a:spcBef>
                <a:spcPts val="600"/>
              </a:spcBef>
            </a:pPr>
            <a:r>
              <a:rPr sz="1100" b="1">
                <a:solidFill>
                  <a:srgbClr val="FFE599"/>
                </a:solidFill>
                <a:latin typeface="Calibri"/>
              </a:rPr>
              <a:t>Wk 8-9</a:t>
            </a:r>
          </a:p>
        </p:txBody>
      </p:sp>
      <p:sp>
        <p:nvSpPr>
          <p:cNvPr id="15" name="Chevron 14"/>
          <p:cNvSpPr/>
          <p:nvPr/>
        </p:nvSpPr>
        <p:spPr>
          <a:xfrm>
            <a:off x="9361695" y="4830000"/>
            <a:ext cx="72000" cy="26000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442695" y="4060000"/>
            <a:ext cx="2111130" cy="1800000"/>
          </a:xfrm>
          <a:prstGeom prst="roundRect">
            <a:avLst>
              <a:gd name="adj" fmla="val 8000"/>
            </a:avLst>
          </a:prstGeom>
          <a:solidFill>
            <a:srgbClr val="4FA6DE"/>
          </a:solidFill>
          <a:ln>
            <a:solidFill>
              <a:srgbClr val="4FA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60000" rIns="80000" bIns="6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Phase 5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Testing &amp; Deployment</a:t>
            </a:r>
          </a:p>
          <a:p>
            <a:pPr algn="ctr">
              <a:spcBef>
                <a:spcPts val="600"/>
              </a:spcBef>
            </a:pPr>
            <a:r>
              <a:rPr sz="1100" b="1">
                <a:solidFill>
                  <a:srgbClr val="FFE599"/>
                </a:solidFill>
                <a:latin typeface="Calibri"/>
              </a:rPr>
              <a:t>Wk 10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922</Words>
  <Application>Microsoft Office PowerPoint</Application>
  <PresentationFormat>Widescreen</PresentationFormat>
  <Paragraphs>110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madamanchi lekha sri</cp:lastModifiedBy>
  <cp:revision>35</cp:revision>
  <dcterms:created xsi:type="dcterms:W3CDTF">2026-08-08T06:33:56Z</dcterms:created>
  <dcterms:modified xsi:type="dcterms:W3CDTF">2026-08-20T08:08:38Z</dcterms:modified>
</cp:coreProperties>
</file>